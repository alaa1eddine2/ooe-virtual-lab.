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34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7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92254"/>
            <a:ext cx="5143500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ULTIMATE
BIOMETRIC:
</a:t>
            </a:r>
            <a:r>
              <a:rPr lang="en-US" sz="3294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DECODING RETINAL</a:t>
            </a:r>
            <a:r>
              <a:rPr lang="en-US" sz="3294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SCANNING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4389639"/>
            <a:ext cx="51435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Computer Science &amp; Optics Workshop — University Seminar Series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7393781" y="2536031"/>
            <a:ext cx="71438" cy="7143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4"/>
          <p:cNvSpPr/>
          <p:nvPr/>
        </p:nvSpPr>
        <p:spPr>
          <a:xfrm>
            <a:off x="7209830" y="4879181"/>
            <a:ext cx="164842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5F5F7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OPTICAL SCANNING SYSTEM v4.1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4286250" cy="8358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THE RETINA?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34800"/>
            <a:ext cx="4000500" cy="310161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008929"/>
            <a:ext cx="144661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7630" y="1977675"/>
            <a:ext cx="157698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Anatomy Overview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785813" y="2211632"/>
            <a:ext cx="3571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retina is a thin layer of tissue lining the inner surface of the back of the eyeball, acting as the sensory membrane.</a:t>
            </a:r>
            <a:endParaRPr lang="en-US" sz="94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917189"/>
            <a:ext cx="144661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37630" y="2885935"/>
            <a:ext cx="145732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Vascular Network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785813" y="3119893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contains a complex, unique web of blood vessels known as the retinal vasculature.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619733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1556" y="3588479"/>
            <a:ext cx="130373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Scanning Focus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785813" y="3822436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Retinal scanners focus specifically on these internal blood vessels, not surface tissue or the iris.</a:t>
            </a:r>
            <a:endParaRPr lang="en-US" sz="942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4322276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21556" y="4291022"/>
            <a:ext cx="125551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Nature</a:t>
            </a:r>
            <a:endParaRPr lang="en-US" sz="1090" dirty="0"/>
          </a:p>
        </p:txBody>
      </p:sp>
      <p:sp>
        <p:nvSpPr>
          <p:cNvPr id="16" name="Text 9"/>
          <p:cNvSpPr/>
          <p:nvPr/>
        </p:nvSpPr>
        <p:spPr>
          <a:xfrm>
            <a:off x="785813" y="4524980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an internal structure, the retina is highly secure and virtually impossible to replicate or forge.</a:t>
            </a:r>
            <a:endParaRPr lang="en-US" sz="942" dirty="0"/>
          </a:p>
        </p:txBody>
      </p:sp>
      <p:sp>
        <p:nvSpPr>
          <p:cNvPr id="17" name="Shape 10"/>
          <p:cNvSpPr/>
          <p:nvPr/>
        </p:nvSpPr>
        <p:spPr>
          <a:xfrm>
            <a:off x="4857750" y="0"/>
            <a:ext cx="428625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1"/>
          <p:cNvSpPr/>
          <p:nvPr/>
        </p:nvSpPr>
        <p:spPr>
          <a:xfrm>
            <a:off x="5536406" y="1107281"/>
            <a:ext cx="102872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SCAN_ID: 8829-X
 RESOLUTION: 1200 DPI
 DEPTH: 0.4mm
 STATUS: READY</a:t>
            </a:r>
            <a:endParaRPr lang="en-US" sz="621" dirty="0"/>
          </a:p>
        </p:txBody>
      </p:sp>
      <p:sp>
        <p:nvSpPr>
          <p:cNvPr id="19" name="Shape 12"/>
          <p:cNvSpPr/>
          <p:nvPr/>
        </p:nvSpPr>
        <p:spPr>
          <a:xfrm>
            <a:off x="5736431" y="1307306"/>
            <a:ext cx="2528888" cy="2528888"/>
          </a:xfrm>
          <a:prstGeom prst="ellipse">
            <a:avLst/>
          </a:prstGeom>
          <a:solidFill>
            <a:srgbClr val="000000"/>
          </a:solidFill>
          <a:ln w="18288">
            <a:solidFill>
              <a:srgbClr val="D32F2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4179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ABSOLUTE UNIQUENESS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32197" y="1558621"/>
            <a:ext cx="2757488" cy="257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558621"/>
            <a:ext cx="2757488" cy="2857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Shape 3"/>
          <p:cNvSpPr/>
          <p:nvPr/>
        </p:nvSpPr>
        <p:spPr>
          <a:xfrm>
            <a:off x="560784" y="1687209"/>
            <a:ext cx="428625" cy="428625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815796"/>
            <a:ext cx="150019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0784" y="2287284"/>
            <a:ext cx="25003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Epigenetic Formation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60784" y="2610538"/>
            <a:ext cx="250031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Retinal vessel patterns are not solely determined by genetics. They form randomly during embryonic development through complex biological interactions.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560784" y="3427716"/>
            <a:ext cx="250031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560784" y="3706323"/>
            <a:ext cx="25003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UNIQUE BRANCHING PATTERN</a:t>
            </a:r>
            <a:endParaRPr lang="en-US" sz="621" dirty="0"/>
          </a:p>
        </p:txBody>
      </p:sp>
      <p:sp>
        <p:nvSpPr>
          <p:cNvPr id="12" name="Shape 8"/>
          <p:cNvSpPr/>
          <p:nvPr/>
        </p:nvSpPr>
        <p:spPr>
          <a:xfrm>
            <a:off x="3193256" y="1558621"/>
            <a:ext cx="2757488" cy="257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3193256" y="1558621"/>
            <a:ext cx="2757488" cy="2857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Shape 10"/>
          <p:cNvSpPr/>
          <p:nvPr/>
        </p:nvSpPr>
        <p:spPr>
          <a:xfrm>
            <a:off x="3321844" y="1687209"/>
            <a:ext cx="428625" cy="428625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815796"/>
            <a:ext cx="214313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21844" y="2287284"/>
            <a:ext cx="25003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Identical Twins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3321844" y="2610538"/>
            <a:ext cx="250031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Because the process is epigenetic, even identical twins with identical DNA possess distinct retinal patterns, unlike many other biometrics.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3321844" y="3427716"/>
            <a:ext cx="250031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</a:t>
            </a:r>
            <a:endParaRPr lang="en-US" sz="1602" dirty="0"/>
          </a:p>
        </p:txBody>
      </p:sp>
      <p:sp>
        <p:nvSpPr>
          <p:cNvPr id="19" name="Text 14"/>
          <p:cNvSpPr/>
          <p:nvPr/>
        </p:nvSpPr>
        <p:spPr>
          <a:xfrm>
            <a:off x="3321844" y="3706323"/>
            <a:ext cx="25003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OVERLAP IN TWINS</a:t>
            </a:r>
            <a:endParaRPr lang="en-US" sz="621" dirty="0"/>
          </a:p>
        </p:txBody>
      </p:sp>
      <p:sp>
        <p:nvSpPr>
          <p:cNvPr id="20" name="Shape 15"/>
          <p:cNvSpPr/>
          <p:nvPr/>
        </p:nvSpPr>
        <p:spPr>
          <a:xfrm>
            <a:off x="5954316" y="1558621"/>
            <a:ext cx="2757488" cy="257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5954316" y="1558621"/>
            <a:ext cx="2757488" cy="2857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2" name="Shape 17"/>
          <p:cNvSpPr/>
          <p:nvPr/>
        </p:nvSpPr>
        <p:spPr>
          <a:xfrm>
            <a:off x="6082903" y="1687209"/>
            <a:ext cx="428625" cy="428625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206" y="1815796"/>
            <a:ext cx="150019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82903" y="2287284"/>
            <a:ext cx="25003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Richness</a:t>
            </a:r>
            <a:endParaRPr lang="en-US" sz="1193" dirty="0"/>
          </a:p>
        </p:txBody>
      </p:sp>
      <p:sp>
        <p:nvSpPr>
          <p:cNvPr id="25" name="Text 19"/>
          <p:cNvSpPr/>
          <p:nvPr/>
        </p:nvSpPr>
        <p:spPr>
          <a:xfrm>
            <a:off x="6082903" y="2610538"/>
            <a:ext cx="25003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 retinal scan captures over 400 unique characteristics—nearly 10 times more than a standard fingerprint scan.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6082903" y="3244853"/>
            <a:ext cx="250031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400+</a:t>
            </a:r>
            <a:endParaRPr lang="en-US" sz="1602" dirty="0"/>
          </a:p>
        </p:txBody>
      </p:sp>
      <p:sp>
        <p:nvSpPr>
          <p:cNvPr id="27" name="Text 21"/>
          <p:cNvSpPr/>
          <p:nvPr/>
        </p:nvSpPr>
        <p:spPr>
          <a:xfrm>
            <a:off x="6082903" y="3523459"/>
            <a:ext cx="25003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DISTINCT DATA POINTS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5229225" cy="4179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BIOLOGICAL STABILITY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359740"/>
            <a:ext cx="4457700" cy="3627351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498150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5825" y="1474040"/>
            <a:ext cx="156090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Protection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657225" y="1722286"/>
            <a:ext cx="4000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retina is situated deep within the skull, shielded by the cornea, lens, and vitreous humor, making it inaccessible to external interference.</a:t>
            </a:r>
            <a:endParaRPr lang="en-US" sz="94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449274"/>
            <a:ext cx="178594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1544" y="2425164"/>
            <a:ext cx="139124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Immune to Wear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657225" y="2673409"/>
            <a:ext cx="4000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Unlike fingerprints, which can be worn down by manual labor or damaged by cuts and dirt, the retina remains untouched by external physical factors.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3400397"/>
            <a:ext cx="178594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1544" y="3376287"/>
            <a:ext cx="192345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Long-term Consistency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657225" y="3624532"/>
            <a:ext cx="4000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vascular pattern typically remains stable from birth until death, barring specific ocular diseases like advanced glaucoma or diabetes.</a:t>
            </a:r>
            <a:endParaRPr lang="en-US" sz="942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351520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85825" y="4327410"/>
            <a:ext cx="214848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Environmental Resistance</a:t>
            </a:r>
            <a:endParaRPr lang="en-US" sz="1090" dirty="0"/>
          </a:p>
        </p:txBody>
      </p:sp>
      <p:sp>
        <p:nvSpPr>
          <p:cNvPr id="16" name="Text 9"/>
          <p:cNvSpPr/>
          <p:nvPr/>
        </p:nvSpPr>
        <p:spPr>
          <a:xfrm>
            <a:off x="657225" y="4575656"/>
            <a:ext cx="40005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Factors like voice changes due to illness or facial changes due to aging do not affect the accuracy of a retinal scan.</a:t>
            </a:r>
            <a:endParaRPr lang="en-US" sz="942" dirty="0"/>
          </a:p>
        </p:txBody>
      </p:sp>
      <p:sp>
        <p:nvSpPr>
          <p:cNvPr id="17" name="Shape 10"/>
          <p:cNvSpPr/>
          <p:nvPr/>
        </p:nvSpPr>
        <p:spPr>
          <a:xfrm>
            <a:off x="5657850" y="0"/>
            <a:ext cx="348615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1"/>
          <p:cNvSpPr/>
          <p:nvPr/>
        </p:nvSpPr>
        <p:spPr>
          <a:xfrm>
            <a:off x="6972300" y="2143125"/>
            <a:ext cx="857250" cy="857250"/>
          </a:xfrm>
          <a:prstGeom prst="ellipse">
            <a:avLst/>
          </a:prstGeom>
          <a:solidFill>
            <a:srgbClr val="D32F2F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5909" y="2428875"/>
            <a:ext cx="250031" cy="2857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91908" y="1628775"/>
            <a:ext cx="141803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F5F5F7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ENVIRONMENTAL SHIELD</a:t>
            </a:r>
            <a:endParaRPr lang="en-US" sz="621" dirty="0"/>
          </a:p>
        </p:txBody>
      </p:sp>
      <p:sp>
        <p:nvSpPr>
          <p:cNvPr id="21" name="Text 13"/>
          <p:cNvSpPr/>
          <p:nvPr/>
        </p:nvSpPr>
        <p:spPr>
          <a:xfrm>
            <a:off x="6798171" y="3411141"/>
            <a:ext cx="12055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2" dirty="0">
                <a:solidFill>
                  <a:srgbClr val="F5F5F7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BIOLOGICAL ANCHOR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5143500" cy="8358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PHYSICS: LIGHT REFRACTION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34800"/>
            <a:ext cx="4714875" cy="32004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987497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1563" y="1963387"/>
            <a:ext cx="201275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Snell's Law of Refraction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785813" y="2225920"/>
            <a:ext cx="428625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near-infrared (NIR) light enters the eye, it bends at each interface where the refractive index (n) changes. This determines the light's final path to the retina.</a:t>
            </a:r>
            <a:endParaRPr lang="en-US" sz="888" dirty="0"/>
          </a:p>
        </p:txBody>
      </p:sp>
      <p:sp>
        <p:nvSpPr>
          <p:cNvPr id="8" name="Shape 4"/>
          <p:cNvSpPr/>
          <p:nvPr/>
        </p:nvSpPr>
        <p:spPr>
          <a:xfrm>
            <a:off x="785813" y="2865983"/>
            <a:ext cx="4286250" cy="37683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785813" y="2865983"/>
            <a:ext cx="28575" cy="376833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6"/>
          <p:cNvSpPr/>
          <p:nvPr/>
        </p:nvSpPr>
        <p:spPr>
          <a:xfrm>
            <a:off x="785813" y="2865983"/>
            <a:ext cx="4286250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n₁ sin(θ₁) = n₂ sin(θ₂)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395514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5844" y="3371404"/>
            <a:ext cx="173950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Refractive Indices (n)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785813" y="3633936"/>
            <a:ext cx="428625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eye's media have distinct refractive indices: Air (n ≈ 1.00), Cornea (n ≈ 1.376), and Crystalline Lens (n ≈ 1.406).</a:t>
            </a:r>
            <a:endParaRPr lang="en-US" sz="888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4175243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5844" y="4151133"/>
            <a:ext cx="132338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Focusing Power</a:t>
            </a:r>
            <a:endParaRPr lang="en-US" sz="1090" dirty="0"/>
          </a:p>
        </p:txBody>
      </p:sp>
      <p:sp>
        <p:nvSpPr>
          <p:cNvPr id="16" name="Text 10"/>
          <p:cNvSpPr/>
          <p:nvPr/>
        </p:nvSpPr>
        <p:spPr>
          <a:xfrm>
            <a:off x="785813" y="4413665"/>
            <a:ext cx="428625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cornea and lens act as the primary refractive elements, precisely focusing the NIR beam onto the retinal plane for high-resolution imaging.</a:t>
            </a:r>
            <a:endParaRPr lang="en-US" sz="888" dirty="0"/>
          </a:p>
        </p:txBody>
      </p:sp>
      <p:sp>
        <p:nvSpPr>
          <p:cNvPr id="17" name="Shape 1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2"/>
          <p:cNvSpPr/>
          <p:nvPr/>
        </p:nvSpPr>
        <p:spPr>
          <a:xfrm>
            <a:off x="6322219" y="1464469"/>
            <a:ext cx="77155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5F5F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n₁ = 1.00 (Air)</a:t>
            </a:r>
            <a:endParaRPr lang="en-US" sz="621" dirty="0"/>
          </a:p>
        </p:txBody>
      </p:sp>
      <p:sp>
        <p:nvSpPr>
          <p:cNvPr id="19" name="Text 13"/>
          <p:cNvSpPr/>
          <p:nvPr/>
        </p:nvSpPr>
        <p:spPr>
          <a:xfrm>
            <a:off x="7559511" y="1464469"/>
            <a:ext cx="9772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5F5F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n₂ = 1.376 (Cornea)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23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5143500" cy="8358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PHYSICS: LIGHT REFLECTION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34800"/>
            <a:ext cx="4714875" cy="335756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001785"/>
            <a:ext cx="71438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4406" y="1977675"/>
            <a:ext cx="143410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Law of Reflection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785813" y="2240207"/>
            <a:ext cx="428625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light hits a surface, the angle of incidence equals the angle of reflection. This governs how NIR light returns from the eye.</a:t>
            </a:r>
            <a:endParaRPr lang="en-US" sz="888" dirty="0"/>
          </a:p>
        </p:txBody>
      </p:sp>
      <p:sp>
        <p:nvSpPr>
          <p:cNvPr id="8" name="Shape 4"/>
          <p:cNvSpPr/>
          <p:nvPr/>
        </p:nvSpPr>
        <p:spPr>
          <a:xfrm>
            <a:off x="785813" y="2700254"/>
            <a:ext cx="4286250" cy="4089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785813" y="2700254"/>
            <a:ext cx="28575" cy="4089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6"/>
          <p:cNvSpPr/>
          <p:nvPr/>
        </p:nvSpPr>
        <p:spPr>
          <a:xfrm>
            <a:off x="785813" y="2700254"/>
            <a:ext cx="4286250" cy="4089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θᵢ = θᵣ</a:t>
            </a:r>
            <a:endParaRPr lang="en-US" sz="1269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276219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5844" y="3252108"/>
            <a:ext cx="160913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Specular Reflection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785813" y="3514641"/>
            <a:ext cx="428625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Occurs at smooth interfaces like the cornea. Scanners must eliminate this "corneal glint" to avoid obscuring the internal retinal image.</a:t>
            </a:r>
            <a:endParaRPr lang="en-US" sz="888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4070235"/>
            <a:ext cx="178594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1563" y="4046125"/>
            <a:ext cx="28860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Diffuse Reflection (Backscattering)</a:t>
            </a:r>
            <a:endParaRPr lang="en-US" sz="1090" dirty="0"/>
          </a:p>
        </p:txBody>
      </p:sp>
      <p:sp>
        <p:nvSpPr>
          <p:cNvPr id="16" name="Text 10"/>
          <p:cNvSpPr/>
          <p:nvPr/>
        </p:nvSpPr>
        <p:spPr>
          <a:xfrm>
            <a:off x="785813" y="4308658"/>
            <a:ext cx="428625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the retina, light undergoes diffuse reflection across complex tissue layers. This backscattered light carries the biometric data of the vessels.</a:t>
            </a:r>
            <a:endParaRPr lang="en-US" sz="888" dirty="0"/>
          </a:p>
        </p:txBody>
      </p:sp>
      <p:sp>
        <p:nvSpPr>
          <p:cNvPr id="17" name="Shape 11"/>
          <p:cNvSpPr/>
          <p:nvPr/>
        </p:nvSpPr>
        <p:spPr>
          <a:xfrm>
            <a:off x="5715000" y="0"/>
            <a:ext cx="3429000" cy="519236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2"/>
          <p:cNvSpPr/>
          <p:nvPr/>
        </p:nvSpPr>
        <p:spPr>
          <a:xfrm>
            <a:off x="6940851" y="3301612"/>
            <a:ext cx="9772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5F5F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OCULAR FUNDUS PLANE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5143500" cy="8358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PHYSICS: REFLECTANCE MAP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34800"/>
            <a:ext cx="4629150" cy="317182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030360"/>
            <a:ext cx="16073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0841" y="2006250"/>
            <a:ext cx="125194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Reflectance (R)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742950" y="2268782"/>
            <a:ext cx="42862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ratio of reflected light to incident light. Retinal tissue has high reflectance due to backscattering from the retinal layers and the sclera.</a:t>
            </a:r>
            <a:endParaRPr lang="en-US" sz="94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038633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2981" y="3014523"/>
            <a:ext cx="226099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Hemoglobin Absorption (A)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742950" y="3277056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Deoxygenated hemoglobin is a strong "light sink," absorbing NIR radiation. This creates the dark "silhouette" of the vessels.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841189"/>
            <a:ext cx="178594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8700" y="3817079"/>
            <a:ext cx="167699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Differential Contrast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742950" y="4079611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contrast map is generated by measuring the difference between high-reflectance tissue and low-reflectance vessels.</a:t>
            </a:r>
            <a:endParaRPr lang="en-US" sz="942" dirty="0"/>
          </a:p>
        </p:txBody>
      </p:sp>
      <p:sp>
        <p:nvSpPr>
          <p:cNvPr id="14" name="Shape 8"/>
          <p:cNvSpPr/>
          <p:nvPr/>
        </p:nvSpPr>
        <p:spPr>
          <a:xfrm>
            <a:off x="742950" y="4548197"/>
            <a:ext cx="4286250" cy="37683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9"/>
          <p:cNvSpPr/>
          <p:nvPr/>
        </p:nvSpPr>
        <p:spPr>
          <a:xfrm>
            <a:off x="742950" y="4548197"/>
            <a:ext cx="28575" cy="376833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0"/>
          <p:cNvSpPr/>
          <p:nvPr/>
        </p:nvSpPr>
        <p:spPr>
          <a:xfrm>
            <a:off x="742950" y="4548197"/>
            <a:ext cx="4286250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(R_tissue - R_vessel) / R_tissue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2"/>
          <p:cNvSpPr/>
          <p:nvPr/>
        </p:nvSpPr>
        <p:spPr>
          <a:xfrm>
            <a:off x="6629400" y="1771650"/>
            <a:ext cx="1600200" cy="1600200"/>
          </a:xfrm>
          <a:prstGeom prst="ellipse">
            <a:avLst/>
          </a:prstGeom>
          <a:solidFill>
            <a:srgbClr val="000000"/>
          </a:solidFill>
          <a:ln w="18288">
            <a:solidFill>
              <a:srgbClr val="D32F2F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7188398" y="2357438"/>
            <a:ext cx="482203" cy="4286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87923" y="3493294"/>
            <a:ext cx="22831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CONTRAST_RATIO: 15:1 // SCAN_READY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PHYSICS: LIGHT &amp; TISSUE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630059"/>
            <a:ext cx="2762259" cy="29718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630059"/>
            <a:ext cx="2762259" cy="42863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871160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2371223"/>
            <a:ext cx="233363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NIR SELECTION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642938" y="2676618"/>
            <a:ext cx="2333634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Scanning systems utilize Near-Infrared (NIR) light, typically at 880nm. This wavelength is invisible to the user, safe for retinal tissue, and provides optimal penetration depth.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642938" y="3848109"/>
            <a:ext cx="143053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WAVELENGTH: 880NM (NIR)</a:t>
            </a:r>
            <a:endParaRPr lang="en-US" sz="584" dirty="0"/>
          </a:p>
        </p:txBody>
      </p:sp>
      <p:sp>
        <p:nvSpPr>
          <p:cNvPr id="10" name="Shape 6"/>
          <p:cNvSpPr/>
          <p:nvPr/>
        </p:nvSpPr>
        <p:spPr>
          <a:xfrm>
            <a:off x="3190884" y="1630059"/>
            <a:ext cx="2762259" cy="29718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3190884" y="1630059"/>
            <a:ext cx="2762259" cy="42863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197" y="1871160"/>
            <a:ext cx="285750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05197" y="2371223"/>
            <a:ext cx="2333634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REFLECTION VS. ABSORPTION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3405197" y="2867713"/>
            <a:ext cx="2333634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NIR light enters the eye and is backscattered (reflected) by the retinal tissue layers. However, blood vessels act as "light sinks," absorbing the incoming radiation.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3405197" y="4039205"/>
            <a:ext cx="206633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PRINCIPLE: DIFFERENTIAL ABSORPTION</a:t>
            </a:r>
            <a:endParaRPr lang="en-US" sz="584" dirty="0"/>
          </a:p>
        </p:txBody>
      </p:sp>
      <p:sp>
        <p:nvSpPr>
          <p:cNvPr id="16" name="Shape 11"/>
          <p:cNvSpPr/>
          <p:nvPr/>
        </p:nvSpPr>
        <p:spPr>
          <a:xfrm>
            <a:off x="5953144" y="1630059"/>
            <a:ext cx="2762259" cy="29718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5953144" y="1630059"/>
            <a:ext cx="2762259" cy="42863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56" y="1871160"/>
            <a:ext cx="321469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67456" y="2371223"/>
            <a:ext cx="233363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HEMOGLOBIN ROLE</a:t>
            </a:r>
            <a:endParaRPr lang="en-US" sz="1090" dirty="0"/>
          </a:p>
        </p:txBody>
      </p:sp>
      <p:sp>
        <p:nvSpPr>
          <p:cNvPr id="20" name="Text 14"/>
          <p:cNvSpPr/>
          <p:nvPr/>
        </p:nvSpPr>
        <p:spPr>
          <a:xfrm>
            <a:off x="6167456" y="2676618"/>
            <a:ext cx="2333634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Deoxygenated hemoglobin is a strong absorber of NIR. This contrast between the absorbing vessels and the reflecting tissue creates a high-definition vascular silhouette.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6167456" y="3848109"/>
            <a:ext cx="19859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CHROMOPHORE: DEOXY-HEMOGLOBIN</a:t>
            </a:r>
            <a:endParaRPr lang="en-US" sz="5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5143500" cy="8358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PHYSICS: OPTICAL PRINCIPLES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34800"/>
            <a:ext cx="4629150" cy="317182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030360"/>
            <a:ext cx="16073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0841" y="2006250"/>
            <a:ext cx="222527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Ocular Fundus Reflectance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742950" y="2268782"/>
            <a:ext cx="42862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ocular fundus acts as a reflective surface. Light is backscattered by retinal layers; vessels absorb more light and appear darker.</a:t>
            </a:r>
            <a:endParaRPr lang="en-US" sz="94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038633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2981" y="3014523"/>
            <a:ext cx="167699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Differential Contrast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742950" y="3277056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Vessels create a vascular silhouette by reducing returned light, producing strong contrast against surrounding tissue.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841189"/>
            <a:ext cx="125016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5122" y="3817079"/>
            <a:ext cx="198774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Non-Mydriatic Scanning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742950" y="4079611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Low-energy illumination avoids pupil dilation, making acquisition faster and more comfortable for patients.</a:t>
            </a:r>
            <a:endParaRPr lang="en-US" sz="942" dirty="0"/>
          </a:p>
        </p:txBody>
      </p:sp>
      <p:sp>
        <p:nvSpPr>
          <p:cNvPr id="14" name="Shape 8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8766" y="2357438"/>
            <a:ext cx="321469" cy="4286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86500" y="3357563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OPTICS_READY: TRUE // RESOLUTION: 1200 DPI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179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WORKS: THE HARDWARE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18814" y="1608627"/>
            <a:ext cx="2666991" cy="2357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558621"/>
            <a:ext cx="2666991" cy="428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671442" y="1594340"/>
            <a:ext cx="47148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077" b="1" dirty="0">
                <a:solidFill>
                  <a:srgbClr val="D32F2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7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756860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1525" y="2249779"/>
            <a:ext cx="238124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ALIGNMENT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71525" y="2544459"/>
            <a:ext cx="2381241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user looks through a specialized eyepiece and aligns their eye with a fixed target light to ensure the fovea is positioned correctly for the scan.</a:t>
            </a:r>
            <a:endParaRPr lang="en-US" sz="888" dirty="0"/>
          </a:p>
        </p:txBody>
      </p:sp>
      <p:sp>
        <p:nvSpPr>
          <p:cNvPr id="10" name="Text 6"/>
          <p:cNvSpPr/>
          <p:nvPr/>
        </p:nvSpPr>
        <p:spPr>
          <a:xfrm>
            <a:off x="771525" y="3407401"/>
            <a:ext cx="2381241" cy="307181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precise user cooperation and positioning.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3295641" y="1558621"/>
            <a:ext cx="2666991" cy="2357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3295641" y="1558621"/>
            <a:ext cx="2666991" cy="428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9"/>
          <p:cNvSpPr/>
          <p:nvPr/>
        </p:nvSpPr>
        <p:spPr>
          <a:xfrm>
            <a:off x="5247350" y="1613985"/>
            <a:ext cx="55364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077" b="1" dirty="0">
                <a:solidFill>
                  <a:srgbClr val="D32F2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77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516" y="1756860"/>
            <a:ext cx="357188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38516" y="2249779"/>
            <a:ext cx="238124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 EMISSION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3438516" y="2544459"/>
            <a:ext cx="2381241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scanner emits a low-energy beam of near-infrared (IR) light. This light is unperceived by the user and safe for the delicate retinal tissue.</a:t>
            </a:r>
            <a:endParaRPr lang="en-US" sz="888" dirty="0"/>
          </a:p>
        </p:txBody>
      </p:sp>
      <p:sp>
        <p:nvSpPr>
          <p:cNvPr id="17" name="Text 12"/>
          <p:cNvSpPr/>
          <p:nvPr/>
        </p:nvSpPr>
        <p:spPr>
          <a:xfrm>
            <a:off x="3438516" y="3407401"/>
            <a:ext cx="2381241" cy="307181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Wavelength typically ranges from 800nm to 900nm.</a:t>
            </a:r>
            <a:endParaRPr lang="en-US" sz="727" dirty="0"/>
          </a:p>
        </p:txBody>
      </p:sp>
      <p:sp>
        <p:nvSpPr>
          <p:cNvPr id="18" name="Shape 13"/>
          <p:cNvSpPr/>
          <p:nvPr/>
        </p:nvSpPr>
        <p:spPr>
          <a:xfrm>
            <a:off x="5962631" y="1580053"/>
            <a:ext cx="2666991" cy="2357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962631" y="1558621"/>
            <a:ext cx="2666991" cy="428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5"/>
          <p:cNvSpPr/>
          <p:nvPr/>
        </p:nvSpPr>
        <p:spPr>
          <a:xfrm>
            <a:off x="7959923" y="1601484"/>
            <a:ext cx="55542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077" b="1" dirty="0">
                <a:solidFill>
                  <a:srgbClr val="D32F2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77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506" y="1756860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05506" y="2249779"/>
            <a:ext cx="238124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ABSORPTION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6105506" y="2544459"/>
            <a:ext cx="2381241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Deoxygenated hemoglobin in the blood vessels absorbs IR light more than the surrounding tissue, creating a high-contrast map of the vasculature.</a:t>
            </a:r>
            <a:endParaRPr lang="en-US" sz="888" dirty="0"/>
          </a:p>
        </p:txBody>
      </p:sp>
      <p:sp>
        <p:nvSpPr>
          <p:cNvPr id="24" name="Text 18"/>
          <p:cNvSpPr/>
          <p:nvPr/>
        </p:nvSpPr>
        <p:spPr>
          <a:xfrm>
            <a:off x="6105506" y="3407401"/>
            <a:ext cx="2381241" cy="307181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Differential absorption enables high-resolution mapping.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WORKS: THE SOFTWARE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0" y="1558621"/>
            <a:ext cx="9144000" cy="358487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312539" y="1943742"/>
            <a:ext cx="2714625" cy="28146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12539" y="1943742"/>
            <a:ext cx="2714625" cy="2857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Shape 4"/>
          <p:cNvSpPr/>
          <p:nvPr/>
        </p:nvSpPr>
        <p:spPr>
          <a:xfrm>
            <a:off x="526852" y="1815154"/>
            <a:ext cx="357188" cy="357188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5"/>
          <p:cNvSpPr/>
          <p:nvPr/>
        </p:nvSpPr>
        <p:spPr>
          <a:xfrm>
            <a:off x="526852" y="181515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9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52" y="2270568"/>
            <a:ext cx="321469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6852" y="2749200"/>
            <a:ext cx="22860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EXTRACTION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526852" y="3026020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algorithms analyze the raw scan to identify "minutiae"—nodes where vessels bifurcate, cross, or terminate.</a:t>
            </a:r>
            <a:endParaRPr lang="en-US" sz="78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953" y="3240332"/>
            <a:ext cx="133945" cy="21431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214688" y="1943742"/>
            <a:ext cx="2714625" cy="28146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3214688" y="1943742"/>
            <a:ext cx="2714625" cy="2857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5" name="Shape 10"/>
          <p:cNvSpPr/>
          <p:nvPr/>
        </p:nvSpPr>
        <p:spPr>
          <a:xfrm>
            <a:off x="3429000" y="1815154"/>
            <a:ext cx="357188" cy="357188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1"/>
          <p:cNvSpPr/>
          <p:nvPr/>
        </p:nvSpPr>
        <p:spPr>
          <a:xfrm>
            <a:off x="3429000" y="181515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93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270568"/>
            <a:ext cx="250031" cy="285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29000" y="2749200"/>
            <a:ext cx="22860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CREATION</a:t>
            </a:r>
            <a:endParaRPr lang="en-US" sz="1090" dirty="0"/>
          </a:p>
        </p:txBody>
      </p:sp>
      <p:sp>
        <p:nvSpPr>
          <p:cNvPr id="19" name="Text 13"/>
          <p:cNvSpPr/>
          <p:nvPr/>
        </p:nvSpPr>
        <p:spPr>
          <a:xfrm>
            <a:off x="3429000" y="30260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Spatial coordinates and vessel thicknesses are converted into an encrypted mathematical template; the image is discarded.</a:t>
            </a:r>
            <a:endParaRPr lang="en-US" sz="78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102" y="3240332"/>
            <a:ext cx="133945" cy="214313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116836" y="1943742"/>
            <a:ext cx="2714625" cy="28146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6116836" y="1943742"/>
            <a:ext cx="2714625" cy="2857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3" name="Shape 16"/>
          <p:cNvSpPr/>
          <p:nvPr/>
        </p:nvSpPr>
        <p:spPr>
          <a:xfrm>
            <a:off x="6331148" y="1815154"/>
            <a:ext cx="357188" cy="357188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4" name="Text 17"/>
          <p:cNvSpPr/>
          <p:nvPr/>
        </p:nvSpPr>
        <p:spPr>
          <a:xfrm>
            <a:off x="6331148" y="181515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93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1148" y="2270568"/>
            <a:ext cx="285750" cy="2857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31148" y="2749200"/>
            <a:ext cx="22860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MATCHING</a:t>
            </a:r>
            <a:endParaRPr lang="en-US" sz="1090" dirty="0"/>
          </a:p>
        </p:txBody>
      </p:sp>
      <p:sp>
        <p:nvSpPr>
          <p:cNvPr id="27" name="Text 19"/>
          <p:cNvSpPr/>
          <p:nvPr/>
        </p:nvSpPr>
        <p:spPr>
          <a:xfrm>
            <a:off x="6331148" y="3026020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live template is compared against stored records; a match is confirmed only if error probability is near zero.</a:t>
            </a:r>
            <a:endParaRPr lang="en-US" sz="780" dirty="0"/>
          </a:p>
        </p:txBody>
      </p:sp>
      <p:sp>
        <p:nvSpPr>
          <p:cNvPr id="28" name="Text 20"/>
          <p:cNvSpPr/>
          <p:nvPr/>
        </p:nvSpPr>
        <p:spPr>
          <a:xfrm>
            <a:off x="285750" y="4884539"/>
            <a:ext cx="457774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ALGORITHM_CORE: V_SCAN_ENGINE_8.0 // ENCRYPTION: AES-256 BIT // MATCH_THRESHOLD: 99.9999%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RETINA VS. IRIS SCANNING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01496"/>
            <a:ext cx="8001000" cy="277624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01496"/>
            <a:ext cx="2000250" cy="3625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056898"/>
            <a:ext cx="20002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695185"/>
            <a:ext cx="2000250" cy="375167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987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2571750" y="1701496"/>
            <a:ext cx="3000375" cy="3625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2571750" y="2056898"/>
            <a:ext cx="3000375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Text 7"/>
          <p:cNvSpPr/>
          <p:nvPr/>
        </p:nvSpPr>
        <p:spPr>
          <a:xfrm>
            <a:off x="2571750" y="1695185"/>
            <a:ext cx="3000375" cy="375167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987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RETINA SCANNING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5572125" y="1701496"/>
            <a:ext cx="3000375" cy="3625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5572125" y="2056898"/>
            <a:ext cx="3000375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0"/>
          <p:cNvSpPr/>
          <p:nvPr/>
        </p:nvSpPr>
        <p:spPr>
          <a:xfrm>
            <a:off x="5572125" y="1695185"/>
            <a:ext cx="3000375" cy="375167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987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IRIS SCANNING</a:t>
            </a:r>
            <a:endParaRPr lang="en-US" sz="987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385845"/>
            <a:ext cx="114300" cy="114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71550" y="2375129"/>
            <a:ext cx="3875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2571750" y="2060470"/>
            <a:ext cx="3000375" cy="600745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Blood vessels at the back of the eye (retinal vasculature).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5572125" y="2060470"/>
            <a:ext cx="3000375" cy="600745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Colored ring (iris) at the front of the eye.</a:t>
            </a:r>
            <a:endParaRPr lang="en-US" sz="942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990162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71550" y="2979446"/>
            <a:ext cx="5250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Distance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2571750" y="2661214"/>
            <a:ext cx="3000375" cy="604317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very close proximity (inches/contact).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5572125" y="2661214"/>
            <a:ext cx="3000375" cy="604317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performed from several feet away.</a:t>
            </a:r>
            <a:endParaRPr lang="en-US" sz="942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594478"/>
            <a:ext cx="142875" cy="1143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0125" y="3583763"/>
            <a:ext cx="68401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Ease of Use</a:t>
            </a:r>
            <a:endParaRPr lang="en-US" sz="784" dirty="0"/>
          </a:p>
        </p:txBody>
      </p:sp>
      <p:sp>
        <p:nvSpPr>
          <p:cNvPr id="24" name="Text 18"/>
          <p:cNvSpPr/>
          <p:nvPr/>
        </p:nvSpPr>
        <p:spPr>
          <a:xfrm>
            <a:off x="2571750" y="3265531"/>
            <a:ext cx="3000375" cy="604317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user cooperation; requires precise alignment.</a:t>
            </a:r>
            <a:endParaRPr lang="en-US" sz="942" dirty="0"/>
          </a:p>
        </p:txBody>
      </p:sp>
      <p:sp>
        <p:nvSpPr>
          <p:cNvPr id="25" name="Text 19"/>
          <p:cNvSpPr/>
          <p:nvPr/>
        </p:nvSpPr>
        <p:spPr>
          <a:xfrm>
            <a:off x="5572125" y="3265531"/>
            <a:ext cx="3000375" cy="604317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and non-intrusive; low user friction.</a:t>
            </a:r>
            <a:endParaRPr lang="en-US" sz="942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4198795"/>
            <a:ext cx="128588" cy="1143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5838" y="4188079"/>
            <a:ext cx="5089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Visibility</a:t>
            </a:r>
            <a:endParaRPr lang="en-US" sz="784" dirty="0"/>
          </a:p>
        </p:txBody>
      </p:sp>
      <p:sp>
        <p:nvSpPr>
          <p:cNvPr id="28" name="Text 21"/>
          <p:cNvSpPr/>
          <p:nvPr/>
        </p:nvSpPr>
        <p:spPr>
          <a:xfrm>
            <a:off x="2571750" y="3869848"/>
            <a:ext cx="3000375" cy="600745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Hidden; requires specialized IR illumination.</a:t>
            </a:r>
            <a:endParaRPr lang="en-US" sz="942" dirty="0"/>
          </a:p>
        </p:txBody>
      </p:sp>
      <p:sp>
        <p:nvSpPr>
          <p:cNvPr id="29" name="Text 22"/>
          <p:cNvSpPr/>
          <p:nvPr/>
        </p:nvSpPr>
        <p:spPr>
          <a:xfrm>
            <a:off x="5572125" y="3869848"/>
            <a:ext cx="3000375" cy="600745"/>
          </a:xfrm>
          <a:prstGeom prst="rect">
            <a:avLst/>
          </a:prstGeom>
          <a:noFill/>
          <a:ln/>
        </p:spPr>
        <p:txBody>
          <a:bodyPr wrap="square" lIns="255143" tIns="212598" rIns="255143" bIns="850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Visible to the naked eye; easily captured.</a:t>
            </a:r>
            <a:endParaRPr lang="en-US" sz="94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ADVANCEMENTS &amp; RESEARCH (2024-2026)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76231" y="1501471"/>
            <a:ext cx="4000500" cy="140017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76231" y="1501471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06" y="1738108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3425" y="1730071"/>
            <a:ext cx="21181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OCULOMICS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619106" y="2103332"/>
            <a:ext cx="37147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learning models like MORG automate vessel identification with 99.9% accuracy, integrating real-time feature fusion for high-stakes security.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619106" y="2685548"/>
            <a:ext cx="206275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NATURE DIGITAL MEDICINE (2025)</a:t>
            </a:r>
            <a:endParaRPr lang="en-US" sz="534" dirty="0"/>
          </a:p>
        </p:txBody>
      </p:sp>
      <p:sp>
        <p:nvSpPr>
          <p:cNvPr id="10" name="Shape 6"/>
          <p:cNvSpPr/>
          <p:nvPr/>
        </p:nvSpPr>
        <p:spPr>
          <a:xfrm>
            <a:off x="4667213" y="1501471"/>
            <a:ext cx="4000500" cy="140017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667213" y="1501471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088" y="1738108"/>
            <a:ext cx="196453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13697" y="1730071"/>
            <a:ext cx="29164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PHOTOACOUSTIC SCANNING (PARS)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4810088" y="2103332"/>
            <a:ext cx="3714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laser-induced ultrasound creates 3D structural maps and oxygen saturation profiles, making vessel forgery physically impossible.</a:t>
            </a:r>
            <a:endParaRPr lang="en-US" sz="727" dirty="0"/>
          </a:p>
        </p:txBody>
      </p:sp>
      <p:sp>
        <p:nvSpPr>
          <p:cNvPr id="15" name="Text 10"/>
          <p:cNvSpPr/>
          <p:nvPr/>
        </p:nvSpPr>
        <p:spPr>
          <a:xfrm>
            <a:off x="4810088" y="2503382"/>
            <a:ext cx="176986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SCIENTIFIC REPORTS (2024)</a:t>
            </a:r>
            <a:endParaRPr lang="en-US" sz="534" dirty="0"/>
          </a:p>
        </p:txBody>
      </p:sp>
      <p:sp>
        <p:nvSpPr>
          <p:cNvPr id="16" name="Shape 11"/>
          <p:cNvSpPr/>
          <p:nvPr/>
        </p:nvSpPr>
        <p:spPr>
          <a:xfrm>
            <a:off x="476231" y="2958796"/>
            <a:ext cx="4000500" cy="140017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476231" y="2958796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06" y="3195433"/>
            <a:ext cx="117872" cy="1571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4135" y="3187396"/>
            <a:ext cx="19895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PORTABLE NIR SYSTEMS</a:t>
            </a:r>
            <a:endParaRPr lang="en-US" sz="987" dirty="0"/>
          </a:p>
        </p:txBody>
      </p:sp>
      <p:sp>
        <p:nvSpPr>
          <p:cNvPr id="20" name="Text 14"/>
          <p:cNvSpPr/>
          <p:nvPr/>
        </p:nvSpPr>
        <p:spPr>
          <a:xfrm>
            <a:off x="619106" y="3560657"/>
            <a:ext cx="37147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of compact, non-mydriatic fundus systems allows for mobile retinal biometric units without requiring pupil dilation.</a:t>
            </a:r>
            <a:endParaRPr lang="en-US" sz="780" dirty="0"/>
          </a:p>
        </p:txBody>
      </p:sp>
      <p:sp>
        <p:nvSpPr>
          <p:cNvPr id="21" name="Text 15"/>
          <p:cNvSpPr/>
          <p:nvPr/>
        </p:nvSpPr>
        <p:spPr>
          <a:xfrm>
            <a:off x="619106" y="3982138"/>
            <a:ext cx="219134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SPRINGER APPLIED SCIENCES (2025)</a:t>
            </a:r>
            <a:endParaRPr lang="en-US" sz="534" dirty="0"/>
          </a:p>
        </p:txBody>
      </p:sp>
      <p:sp>
        <p:nvSpPr>
          <p:cNvPr id="22" name="Shape 16"/>
          <p:cNvSpPr/>
          <p:nvPr/>
        </p:nvSpPr>
        <p:spPr>
          <a:xfrm>
            <a:off x="4667213" y="2958796"/>
            <a:ext cx="4000500" cy="140017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4667213" y="2958796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0088" y="3195433"/>
            <a:ext cx="157163" cy="15716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74407" y="3187396"/>
            <a:ext cx="28342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NEURODEGENERATIVE DETECTION</a:t>
            </a:r>
            <a:endParaRPr lang="en-US" sz="987" dirty="0"/>
          </a:p>
        </p:txBody>
      </p:sp>
      <p:sp>
        <p:nvSpPr>
          <p:cNvPr id="26" name="Text 19"/>
          <p:cNvSpPr/>
          <p:nvPr/>
        </p:nvSpPr>
        <p:spPr>
          <a:xfrm>
            <a:off x="4810088" y="3560657"/>
            <a:ext cx="37147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confirms retinal microvasculature changes as early biomarkers for Alzheimer’s and Parkinson’s disease diagnosis.</a:t>
            </a:r>
            <a:endParaRPr lang="en-US" sz="780" dirty="0"/>
          </a:p>
        </p:txBody>
      </p:sp>
      <p:sp>
        <p:nvSpPr>
          <p:cNvPr id="27" name="Text 20"/>
          <p:cNvSpPr/>
          <p:nvPr/>
        </p:nvSpPr>
        <p:spPr>
          <a:xfrm>
            <a:off x="4810088" y="3982138"/>
            <a:ext cx="178772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PMC / NIH RESEARCH (2025)</a:t>
            </a:r>
            <a:endParaRPr lang="en-US" sz="5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79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USE CASES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33381" y="1544334"/>
            <a:ext cx="3914775" cy="140017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33381" y="1544334"/>
            <a:ext cx="3914775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31" y="179704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2006" y="1787221"/>
            <a:ext cx="211633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HIGH-SECURITY VAULTS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704831" y="2206916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Protects nuclear facilities, classified archives, and high-value assets.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704831" y="2701230"/>
            <a:ext cx="18145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SECTOR: DEFENSE &amp; INTELLIGENCE</a:t>
            </a:r>
            <a:endParaRPr lang="en-US" sz="584" dirty="0"/>
          </a:p>
        </p:txBody>
      </p:sp>
      <p:sp>
        <p:nvSpPr>
          <p:cNvPr id="10" name="Shape 6"/>
          <p:cNvSpPr/>
          <p:nvPr/>
        </p:nvSpPr>
        <p:spPr>
          <a:xfrm>
            <a:off x="4695788" y="1544334"/>
            <a:ext cx="3914775" cy="140017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695788" y="1544334"/>
            <a:ext cx="3914775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238" y="1797044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24413" y="1787221"/>
            <a:ext cx="213419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INFRASTRUCTURE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4867238" y="2206916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Secures access to corporate server farms and critical data centers.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4867238" y="2701230"/>
            <a:ext cx="123408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SECTOR: ENTERPRISE IT</a:t>
            </a:r>
            <a:endParaRPr lang="en-US" sz="584" dirty="0"/>
          </a:p>
        </p:txBody>
      </p:sp>
      <p:sp>
        <p:nvSpPr>
          <p:cNvPr id="16" name="Shape 11"/>
          <p:cNvSpPr/>
          <p:nvPr/>
        </p:nvSpPr>
        <p:spPr>
          <a:xfrm>
            <a:off x="533381" y="3001659"/>
            <a:ext cx="3914775" cy="140017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533381" y="3001659"/>
            <a:ext cx="3914775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31" y="3254369"/>
            <a:ext cx="192881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3438" y="3244546"/>
            <a:ext cx="20859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MEDICAL DIAGNOSTICS</a:t>
            </a:r>
            <a:endParaRPr lang="en-US" sz="1090" dirty="0"/>
          </a:p>
        </p:txBody>
      </p:sp>
      <p:sp>
        <p:nvSpPr>
          <p:cNvPr id="20" name="Text 14"/>
          <p:cNvSpPr/>
          <p:nvPr/>
        </p:nvSpPr>
        <p:spPr>
          <a:xfrm>
            <a:off x="704831" y="3664241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Retinal imaging used to screen for diabetes, hypertension, and vascular risk.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704831" y="4158555"/>
            <a:ext cx="11465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SECTOR: HEALTHCARE</a:t>
            </a:r>
            <a:endParaRPr lang="en-US" sz="584" dirty="0"/>
          </a:p>
        </p:txBody>
      </p:sp>
      <p:sp>
        <p:nvSpPr>
          <p:cNvPr id="22" name="Shape 16"/>
          <p:cNvSpPr/>
          <p:nvPr/>
        </p:nvSpPr>
        <p:spPr>
          <a:xfrm>
            <a:off x="4695788" y="3001659"/>
            <a:ext cx="3914775" cy="140017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4695788" y="3001659"/>
            <a:ext cx="3914775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7238" y="3254369"/>
            <a:ext cx="214313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67275" y="3244546"/>
            <a:ext cx="213240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VERIFICATION</a:t>
            </a:r>
            <a:endParaRPr lang="en-US" sz="1090" dirty="0"/>
          </a:p>
        </p:txBody>
      </p:sp>
      <p:sp>
        <p:nvSpPr>
          <p:cNvPr id="26" name="Text 19"/>
          <p:cNvSpPr/>
          <p:nvPr/>
        </p:nvSpPr>
        <p:spPr>
          <a:xfrm>
            <a:off x="4867238" y="3664241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Applied where false acceptance is unacceptable for high-stakes access.</a:t>
            </a:r>
            <a:endParaRPr lang="en-US" sz="834" dirty="0"/>
          </a:p>
        </p:txBody>
      </p:sp>
      <p:sp>
        <p:nvSpPr>
          <p:cNvPr id="27" name="Text 20"/>
          <p:cNvSpPr/>
          <p:nvPr/>
        </p:nvSpPr>
        <p:spPr>
          <a:xfrm>
            <a:off x="4867238" y="4158555"/>
            <a:ext cx="18930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SECTOR: CRITICAL INFRASTRUCTURE</a:t>
            </a:r>
            <a:endParaRPr lang="en-US" sz="58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5143500" cy="83581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PROBLEMS SOLVED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34800"/>
            <a:ext cx="4429125" cy="3067683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001785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1563" y="1977675"/>
            <a:ext cx="114657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Anti-Spoofing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785813" y="2240207"/>
            <a:ext cx="4000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is virtually impossible to forge internal blood vessels using 3D printing or high-resolution photography, as the pattern is hidden deep within the eye.</a:t>
            </a:r>
            <a:endParaRPr lang="en-US" sz="94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024346"/>
            <a:ext cx="160734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3703" y="3000235"/>
            <a:ext cx="157341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Liveness Detection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785813" y="3262768"/>
            <a:ext cx="4000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scanner relies on the absorption properties of circulating blood; a "dead" eye lacks the dynamic contrast and flow required for a successful match.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4046906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35844" y="4022796"/>
            <a:ext cx="176450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Contactless (Internal)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785813" y="4285329"/>
            <a:ext cx="4000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the user is close to the device, the biometric being measured is internal and cannot be "lifted" or stolen like a latent fingerprint.</a:t>
            </a:r>
            <a:endParaRPr lang="en-US" sz="942" dirty="0"/>
          </a:p>
        </p:txBody>
      </p:sp>
      <p:sp>
        <p:nvSpPr>
          <p:cNvPr id="14" name="Shape 8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0" y="2286000"/>
            <a:ext cx="571500" cy="571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57249" y="3436144"/>
            <a:ext cx="15445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LIVENESS_VERIFIED: TRUE</a:t>
            </a:r>
            <a:endParaRPr lang="en-US" sz="72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4857750" cy="4179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16890"/>
            <a:ext cx="4857750" cy="242887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721393"/>
            <a:ext cx="128588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2994" y="1702640"/>
            <a:ext cx="165913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Gold Standard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857250" y="2018751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Retinal scanning remains the most accurate biometric technology available, offering a near-zero false acceptance rate (FAR).</a:t>
            </a:r>
            <a:endParaRPr lang="en-US" sz="94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663251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35856" y="2644499"/>
            <a:ext cx="15644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Ultimate Security</a:t>
            </a:r>
            <a:endParaRPr lang="en-US" sz="1193" dirty="0"/>
          </a:p>
        </p:txBody>
      </p:sp>
      <p:sp>
        <p:nvSpPr>
          <p:cNvPr id="10" name="Text 5"/>
          <p:cNvSpPr/>
          <p:nvPr/>
        </p:nvSpPr>
        <p:spPr>
          <a:xfrm>
            <a:off x="857250" y="2960610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Its internal nature and liveness detection make it the definitive tool for high-stakes security environments.</a:t>
            </a:r>
            <a:endParaRPr lang="en-US" sz="942" dirty="0"/>
          </a:p>
        </p:txBody>
      </p:sp>
      <p:sp>
        <p:nvSpPr>
          <p:cNvPr id="11" name="Shape 6"/>
          <p:cNvSpPr/>
          <p:nvPr/>
        </p:nvSpPr>
        <p:spPr>
          <a:xfrm>
            <a:off x="5429250" y="0"/>
            <a:ext cx="371475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7"/>
          <p:cNvSpPr/>
          <p:nvPr/>
        </p:nvSpPr>
        <p:spPr>
          <a:xfrm>
            <a:off x="5857875" y="657225"/>
            <a:ext cx="2857500" cy="27860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</a:t>
            </a:r>
            <a:endParaRPr lang="en-US" sz="1602" dirty="0"/>
          </a:p>
        </p:txBody>
      </p:sp>
      <p:sp>
        <p:nvSpPr>
          <p:cNvPr id="13" name="Text 8"/>
          <p:cNvSpPr/>
          <p:nvPr/>
        </p:nvSpPr>
        <p:spPr>
          <a:xfrm>
            <a:off x="5857875" y="1221581"/>
            <a:ext cx="28575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Hardware Cost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5857875" y="1466255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Specialized optical components and IR sensors make these systems significantly more expensive than other biometrics.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5857875" y="2194917"/>
            <a:ext cx="28575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Friction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5857875" y="2439591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requirement for precise eye alignment and close proximity can be perceived as intrusive or uncomfortable.</a:t>
            </a:r>
            <a:endParaRPr lang="en-US" sz="834" dirty="0"/>
          </a:p>
        </p:txBody>
      </p:sp>
      <p:sp>
        <p:nvSpPr>
          <p:cNvPr id="17" name="Text 12"/>
          <p:cNvSpPr/>
          <p:nvPr/>
        </p:nvSpPr>
        <p:spPr>
          <a:xfrm>
            <a:off x="5857875" y="3168253"/>
            <a:ext cx="28575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Perceived Intrusiveness</a:t>
            </a:r>
            <a:endParaRPr lang="en-US" sz="987" dirty="0"/>
          </a:p>
        </p:txBody>
      </p:sp>
      <p:sp>
        <p:nvSpPr>
          <p:cNvPr id="18" name="Text 13"/>
          <p:cNvSpPr/>
          <p:nvPr/>
        </p:nvSpPr>
        <p:spPr>
          <a:xfrm>
            <a:off x="5857875" y="3412927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scanning process is often compared to a medical procedure, which can lead to user resistance in low-security settings.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5857875" y="4607719"/>
            <a:ext cx="2857500" cy="535781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F5F5F7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Summary: A tool for absolute certainty where cost and effort are justified by the need for zero error.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1587</Words>
  <Application>Microsoft Office PowerPoint</Application>
  <PresentationFormat>Affichage à l'écran (16:9)</PresentationFormat>
  <Paragraphs>186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Courier New</vt:lpstr>
      <vt:lpstr>monospace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rahimwael2007@gmail.com</cp:lastModifiedBy>
  <cp:revision>2</cp:revision>
  <dcterms:created xsi:type="dcterms:W3CDTF">2026-03-07T11:47:18Z</dcterms:created>
  <dcterms:modified xsi:type="dcterms:W3CDTF">2026-03-07T13:12:14Z</dcterms:modified>
</cp:coreProperties>
</file>