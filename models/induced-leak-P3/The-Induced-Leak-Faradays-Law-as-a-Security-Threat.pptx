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embedTrueTypeFonts="1" saveSubsetFonts="1">
  <p:sldMasterIdLst>
    <p:sldMasterId id="2147483648" r:id="rId1"/>
  </p:sldMasterIdLst>
  <p:notesMasterIdLst>
    <p:notesMasterId r:id="rId14"/>
  </p:notesMasterIdLst>
  <p:sldIdLst>
    <p:sldId id="256" r:id="rId4"/>
    <p:sldId id="257" r:id="rId5"/>
    <p:sldId id="258" r:id="rId6"/>
    <p:sldId id="259" r:id="rId7"/>
    <p:sldId id="260" r:id="rId8"/>
    <p:sldId id="261" r:id="rId9"/>
    <p:sldId id="262" r:id="rId10"/>
    <p:sldId id="263" r:id="rId11"/>
    <p:sldId id="264" r:id="rId12"/>
    <p:sldId id="265" r:id="rId13"/>
  </p:sldIdLst>
  <p:sldSz cx="14630400" cy="8229600"/>
  <p:notesSz cx="8229600" cy="146304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67" d="100"/>
          <a:sy n="67" d="100"/>
        </p:scale>
        <p:origin x="516" y="57"/>
      </p:cViewPr>
      <p:guideLst>
        <p:guide pos="4608"/>
        <p:guide pos="2592"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notesMaster" Target="notesMasters/notesMaster1.xml"/><Relationship Id="rId15" Type="http://schemas.openxmlformats.org/officeDocument/2006/relationships/presProps" Target="presProps.xml" /><Relationship Id="rId16" Type="http://schemas.openxmlformats.org/officeDocument/2006/relationships/tableStyles" Target="tableStyles.xml" /><Relationship Id="rId17"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78459800" name="Slide Image Placeholder 1"/>
          <p:cNvSpPr>
            <a:spLocks noChangeAspect="1" noGrp="1" noRot="1"/>
          </p:cNvSpPr>
          <p:nvPr>
            <p:ph type="sldImg"/>
          </p:nvPr>
        </p:nvSpPr>
        <p:spPr bwMode="auto"/>
      </p:sp>
      <p:sp>
        <p:nvSpPr>
          <p:cNvPr id="1878525321" name="Notes Placeholder 2"/>
          <p:cNvSpPr>
            <a:spLocks noGrp="1"/>
          </p:cNvSpPr>
          <p:nvPr>
            <p:ph type="body" idx="1"/>
          </p:nvPr>
        </p:nvSpPr>
        <p:spPr bwMode="auto"/>
        <p:txBody>
          <a:bodyPr/>
          <a:lstStyle/>
          <a:p>
            <a:pPr>
              <a:defRPr/>
            </a:pPr>
            <a:endParaRPr lang="en-US"/>
          </a:p>
        </p:txBody>
      </p:sp>
      <p:sp>
        <p:nvSpPr>
          <p:cNvPr id="144259839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7165279" name="Slide Image Placeholder 1"/>
          <p:cNvSpPr>
            <a:spLocks noChangeAspect="1" noGrp="1" noRot="1"/>
          </p:cNvSpPr>
          <p:nvPr>
            <p:ph type="sldImg"/>
          </p:nvPr>
        </p:nvSpPr>
        <p:spPr bwMode="auto"/>
      </p:sp>
      <p:sp>
        <p:nvSpPr>
          <p:cNvPr id="530520970" name="Notes Placeholder 2"/>
          <p:cNvSpPr>
            <a:spLocks noGrp="1"/>
          </p:cNvSpPr>
          <p:nvPr>
            <p:ph type="body" idx="1"/>
          </p:nvPr>
        </p:nvSpPr>
        <p:spPr bwMode="auto"/>
        <p:txBody>
          <a:bodyPr/>
          <a:lstStyle/>
          <a:p>
            <a:pPr>
              <a:defRPr/>
            </a:pPr>
            <a:endParaRPr lang="en-US"/>
          </a:p>
        </p:txBody>
      </p:sp>
      <p:sp>
        <p:nvSpPr>
          <p:cNvPr id="1877667023"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1585315" name="Slide Image Placeholder 1"/>
          <p:cNvSpPr>
            <a:spLocks noChangeAspect="1" noGrp="1" noRot="1"/>
          </p:cNvSpPr>
          <p:nvPr>
            <p:ph type="sldImg"/>
          </p:nvPr>
        </p:nvSpPr>
        <p:spPr bwMode="auto"/>
      </p:sp>
      <p:sp>
        <p:nvSpPr>
          <p:cNvPr id="1413258458" name="Notes Placeholder 2"/>
          <p:cNvSpPr>
            <a:spLocks noGrp="1"/>
          </p:cNvSpPr>
          <p:nvPr>
            <p:ph type="body" idx="1"/>
          </p:nvPr>
        </p:nvSpPr>
        <p:spPr bwMode="auto"/>
        <p:txBody>
          <a:bodyPr/>
          <a:lstStyle/>
          <a:p>
            <a:pPr>
              <a:defRPr/>
            </a:pPr>
            <a:endParaRPr lang="en-US"/>
          </a:p>
        </p:txBody>
      </p:sp>
      <p:sp>
        <p:nvSpPr>
          <p:cNvPr id="56017929"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7022005" name="Slide Image Placeholder 1"/>
          <p:cNvSpPr>
            <a:spLocks noChangeAspect="1" noGrp="1" noRot="1"/>
          </p:cNvSpPr>
          <p:nvPr>
            <p:ph type="sldImg"/>
          </p:nvPr>
        </p:nvSpPr>
        <p:spPr bwMode="auto"/>
      </p:sp>
      <p:sp>
        <p:nvSpPr>
          <p:cNvPr id="156355890" name="Notes Placeholder 2"/>
          <p:cNvSpPr>
            <a:spLocks noGrp="1"/>
          </p:cNvSpPr>
          <p:nvPr>
            <p:ph type="body" idx="1"/>
          </p:nvPr>
        </p:nvSpPr>
        <p:spPr bwMode="auto"/>
        <p:txBody>
          <a:bodyPr/>
          <a:lstStyle/>
          <a:p>
            <a:pPr>
              <a:defRPr/>
            </a:pPr>
            <a:endParaRPr lang="en-US"/>
          </a:p>
        </p:txBody>
      </p:sp>
      <p:sp>
        <p:nvSpPr>
          <p:cNvPr id="1178077654"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38819033" name="Slide Image Placeholder 1"/>
          <p:cNvSpPr>
            <a:spLocks noChangeAspect="1" noGrp="1" noRot="1"/>
          </p:cNvSpPr>
          <p:nvPr>
            <p:ph type="sldImg"/>
          </p:nvPr>
        </p:nvSpPr>
        <p:spPr bwMode="auto"/>
      </p:sp>
      <p:sp>
        <p:nvSpPr>
          <p:cNvPr id="1535645468" name="Notes Placeholder 2"/>
          <p:cNvSpPr>
            <a:spLocks noGrp="1"/>
          </p:cNvSpPr>
          <p:nvPr>
            <p:ph type="body" idx="1"/>
          </p:nvPr>
        </p:nvSpPr>
        <p:spPr bwMode="auto"/>
        <p:txBody>
          <a:bodyPr/>
          <a:lstStyle/>
          <a:p>
            <a:pPr>
              <a:defRPr/>
            </a:pPr>
            <a:endParaRPr lang="en-US"/>
          </a:p>
        </p:txBody>
      </p:sp>
      <p:sp>
        <p:nvSpPr>
          <p:cNvPr id="1323928188"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08687067" name="Slide Image Placeholder 1"/>
          <p:cNvSpPr>
            <a:spLocks noChangeAspect="1" noGrp="1" noRot="1"/>
          </p:cNvSpPr>
          <p:nvPr>
            <p:ph type="sldImg"/>
          </p:nvPr>
        </p:nvSpPr>
        <p:spPr bwMode="auto"/>
      </p:sp>
      <p:sp>
        <p:nvSpPr>
          <p:cNvPr id="1567509522" name="Notes Placeholder 2"/>
          <p:cNvSpPr>
            <a:spLocks noGrp="1"/>
          </p:cNvSpPr>
          <p:nvPr>
            <p:ph type="body" idx="1"/>
          </p:nvPr>
        </p:nvSpPr>
        <p:spPr bwMode="auto"/>
        <p:txBody>
          <a:bodyPr/>
          <a:lstStyle/>
          <a:p>
            <a:pPr>
              <a:defRPr/>
            </a:pPr>
            <a:endParaRPr lang="en-US"/>
          </a:p>
        </p:txBody>
      </p:sp>
      <p:sp>
        <p:nvSpPr>
          <p:cNvPr id="1789815443"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98276560" name="Slide Image Placeholder 1"/>
          <p:cNvSpPr>
            <a:spLocks noChangeAspect="1" noGrp="1" noRot="1"/>
          </p:cNvSpPr>
          <p:nvPr>
            <p:ph type="sldImg"/>
          </p:nvPr>
        </p:nvSpPr>
        <p:spPr bwMode="auto"/>
      </p:sp>
      <p:sp>
        <p:nvSpPr>
          <p:cNvPr id="877434885" name="Notes Placeholder 2"/>
          <p:cNvSpPr>
            <a:spLocks noGrp="1"/>
          </p:cNvSpPr>
          <p:nvPr>
            <p:ph type="body" idx="1"/>
          </p:nvPr>
        </p:nvSpPr>
        <p:spPr bwMode="auto"/>
        <p:txBody>
          <a:bodyPr/>
          <a:lstStyle/>
          <a:p>
            <a:pPr>
              <a:defRPr/>
            </a:pPr>
            <a:endParaRPr lang="en-US"/>
          </a:p>
        </p:txBody>
      </p:sp>
      <p:sp>
        <p:nvSpPr>
          <p:cNvPr id="1594046964"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752005" name="Slide Image Placeholder 1"/>
          <p:cNvSpPr>
            <a:spLocks noChangeAspect="1" noGrp="1" noRot="1"/>
          </p:cNvSpPr>
          <p:nvPr>
            <p:ph type="sldImg"/>
          </p:nvPr>
        </p:nvSpPr>
        <p:spPr bwMode="auto"/>
      </p:sp>
      <p:sp>
        <p:nvSpPr>
          <p:cNvPr id="1617304600" name="Notes Placeholder 2"/>
          <p:cNvSpPr>
            <a:spLocks noGrp="1"/>
          </p:cNvSpPr>
          <p:nvPr>
            <p:ph type="body" idx="1"/>
          </p:nvPr>
        </p:nvSpPr>
        <p:spPr bwMode="auto"/>
        <p:txBody>
          <a:bodyPr/>
          <a:lstStyle/>
          <a:p>
            <a:pPr>
              <a:defRPr/>
            </a:pPr>
            <a:endParaRPr lang="en-US"/>
          </a:p>
        </p:txBody>
      </p:sp>
      <p:sp>
        <p:nvSpPr>
          <p:cNvPr id="679134909"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9933562" name="Slide Image Placeholder 1"/>
          <p:cNvSpPr>
            <a:spLocks noChangeAspect="1" noGrp="1" noRot="1"/>
          </p:cNvSpPr>
          <p:nvPr>
            <p:ph type="sldImg"/>
          </p:nvPr>
        </p:nvSpPr>
        <p:spPr bwMode="auto"/>
      </p:sp>
      <p:sp>
        <p:nvSpPr>
          <p:cNvPr id="244840684" name="Notes Placeholder 2"/>
          <p:cNvSpPr>
            <a:spLocks noGrp="1"/>
          </p:cNvSpPr>
          <p:nvPr>
            <p:ph type="body" idx="1"/>
          </p:nvPr>
        </p:nvSpPr>
        <p:spPr bwMode="auto"/>
        <p:txBody>
          <a:bodyPr/>
          <a:lstStyle/>
          <a:p>
            <a:pPr>
              <a:defRPr/>
            </a:pPr>
            <a:endParaRPr lang="en-US"/>
          </a:p>
        </p:txBody>
      </p:sp>
      <p:sp>
        <p:nvSpPr>
          <p:cNvPr id="2083100720"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40416834" name="Slide Image Placeholder 1"/>
          <p:cNvSpPr>
            <a:spLocks noChangeAspect="1" noGrp="1" noRot="1"/>
          </p:cNvSpPr>
          <p:nvPr>
            <p:ph type="sldImg"/>
          </p:nvPr>
        </p:nvSpPr>
        <p:spPr bwMode="auto"/>
      </p:sp>
      <p:sp>
        <p:nvSpPr>
          <p:cNvPr id="767297746" name="Notes Placeholder 2"/>
          <p:cNvSpPr>
            <a:spLocks noGrp="1"/>
          </p:cNvSpPr>
          <p:nvPr>
            <p:ph type="body" idx="1"/>
          </p:nvPr>
        </p:nvSpPr>
        <p:spPr bwMode="auto"/>
        <p:txBody>
          <a:bodyPr/>
          <a:lstStyle/>
          <a:p>
            <a:pPr>
              <a:defRPr/>
            </a:pPr>
            <a:endParaRPr lang="en-US"/>
          </a:p>
        </p:txBody>
      </p:sp>
      <p:sp>
        <p:nvSpPr>
          <p:cNvPr id="95205344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1 master">
    <p:spTree>
      <p:nvGrpSpPr>
        <p:cNvPr id="1" name=""/>
        <p:cNvGrpSpPr/>
        <p:nvPr/>
      </p:nvGrpSpPr>
      <p:grpSpPr bwMode="auto">
        <a:xfrm>
          <a:off x="0" y="0"/>
          <a:ext cx="0" cy="0"/>
          <a:chOff x="0" y="0"/>
          <a:chExt cx="0" cy="0"/>
        </a:xfrm>
      </p:grpSpPr>
      <p:sp>
        <p:nvSpPr>
          <p:cNvPr id="1308290283" name="Shape 0"/>
          <p:cNvSpPr/>
          <p:nvPr/>
        </p:nvSpPr>
        <p:spPr bwMode="auto">
          <a:xfrm>
            <a:off x="0" y="0"/>
            <a:ext cx="14630400" cy="8229600"/>
          </a:xfrm>
          <a:prstGeom prst="rect">
            <a:avLst/>
          </a:prstGeom>
          <a:solidFill>
            <a:srgbClr val="121212"/>
          </a:solidFill>
          <a:ln/>
        </p:spPr>
      </p:sp>
      <p:sp>
        <p:nvSpPr>
          <p:cNvPr id="573118608" name="Shape 1"/>
          <p:cNvSpPr/>
          <p:nvPr/>
        </p:nvSpPr>
        <p:spPr bwMode="auto">
          <a:xfrm>
            <a:off x="0" y="0"/>
            <a:ext cx="14630400" cy="8229600"/>
          </a:xfrm>
          <a:prstGeom prst="rect">
            <a:avLst/>
          </a:prstGeom>
          <a:solidFill>
            <a:srgbClr val="1F1F1F"/>
          </a:solidFill>
          <a:ln/>
        </p:spPr>
      </p:sp>
      <p:pic>
        <p:nvPicPr>
          <p:cNvPr id="67984549"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2 master">
    <p:spTree>
      <p:nvGrpSpPr>
        <p:cNvPr id="1" name=""/>
        <p:cNvGrpSpPr/>
        <p:nvPr/>
      </p:nvGrpSpPr>
      <p:grpSpPr bwMode="auto">
        <a:xfrm>
          <a:off x="0" y="0"/>
          <a:ext cx="0" cy="0"/>
          <a:chOff x="0" y="0"/>
          <a:chExt cx="0" cy="0"/>
        </a:xfrm>
      </p:grpSpPr>
      <p:sp>
        <p:nvSpPr>
          <p:cNvPr id="195588862" name="Shape 0"/>
          <p:cNvSpPr/>
          <p:nvPr/>
        </p:nvSpPr>
        <p:spPr bwMode="auto">
          <a:xfrm>
            <a:off x="0" y="0"/>
            <a:ext cx="14630400" cy="8229600"/>
          </a:xfrm>
          <a:prstGeom prst="rect">
            <a:avLst/>
          </a:prstGeom>
          <a:solidFill>
            <a:srgbClr val="121212"/>
          </a:solidFill>
          <a:ln/>
        </p:spPr>
      </p:sp>
      <p:sp>
        <p:nvSpPr>
          <p:cNvPr id="142735812" name="Shape 1"/>
          <p:cNvSpPr/>
          <p:nvPr/>
        </p:nvSpPr>
        <p:spPr bwMode="auto">
          <a:xfrm>
            <a:off x="0" y="0"/>
            <a:ext cx="14630400" cy="8229600"/>
          </a:xfrm>
          <a:prstGeom prst="rect">
            <a:avLst/>
          </a:prstGeom>
          <a:solidFill>
            <a:srgbClr val="1F1F1F"/>
          </a:solidFill>
          <a:ln/>
        </p:spPr>
      </p:sp>
      <p:pic>
        <p:nvPicPr>
          <p:cNvPr id="609227457"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3 master">
    <p:spTree>
      <p:nvGrpSpPr>
        <p:cNvPr id="1" name=""/>
        <p:cNvGrpSpPr/>
        <p:nvPr/>
      </p:nvGrpSpPr>
      <p:grpSpPr bwMode="auto">
        <a:xfrm>
          <a:off x="0" y="0"/>
          <a:ext cx="0" cy="0"/>
          <a:chOff x="0" y="0"/>
          <a:chExt cx="0" cy="0"/>
        </a:xfrm>
      </p:grpSpPr>
      <p:sp>
        <p:nvSpPr>
          <p:cNvPr id="1707996078" name="Shape 0"/>
          <p:cNvSpPr/>
          <p:nvPr/>
        </p:nvSpPr>
        <p:spPr bwMode="auto">
          <a:xfrm>
            <a:off x="0" y="0"/>
            <a:ext cx="14630400" cy="8229600"/>
          </a:xfrm>
          <a:prstGeom prst="rect">
            <a:avLst/>
          </a:prstGeom>
          <a:solidFill>
            <a:srgbClr val="121212"/>
          </a:solidFill>
          <a:ln/>
        </p:spPr>
      </p:sp>
      <p:sp>
        <p:nvSpPr>
          <p:cNvPr id="986022862" name="Shape 1"/>
          <p:cNvSpPr/>
          <p:nvPr/>
        </p:nvSpPr>
        <p:spPr bwMode="auto">
          <a:xfrm>
            <a:off x="0" y="0"/>
            <a:ext cx="14630400" cy="8229600"/>
          </a:xfrm>
          <a:prstGeom prst="rect">
            <a:avLst/>
          </a:prstGeom>
          <a:solidFill>
            <a:srgbClr val="1F1F1F"/>
          </a:solidFill>
          <a:ln/>
        </p:spPr>
      </p:sp>
      <p:pic>
        <p:nvPicPr>
          <p:cNvPr id="1528169573"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4 master">
    <p:spTree>
      <p:nvGrpSpPr>
        <p:cNvPr id="1" name=""/>
        <p:cNvGrpSpPr/>
        <p:nvPr/>
      </p:nvGrpSpPr>
      <p:grpSpPr bwMode="auto">
        <a:xfrm>
          <a:off x="0" y="0"/>
          <a:ext cx="0" cy="0"/>
          <a:chOff x="0" y="0"/>
          <a:chExt cx="0" cy="0"/>
        </a:xfrm>
      </p:grpSpPr>
      <p:sp>
        <p:nvSpPr>
          <p:cNvPr id="2138163857" name="Shape 0"/>
          <p:cNvSpPr/>
          <p:nvPr/>
        </p:nvSpPr>
        <p:spPr bwMode="auto">
          <a:xfrm>
            <a:off x="0" y="0"/>
            <a:ext cx="14630400" cy="8229600"/>
          </a:xfrm>
          <a:prstGeom prst="rect">
            <a:avLst/>
          </a:prstGeom>
          <a:solidFill>
            <a:srgbClr val="121212"/>
          </a:solidFill>
          <a:ln/>
        </p:spPr>
      </p:sp>
      <p:sp>
        <p:nvSpPr>
          <p:cNvPr id="1569274998" name="Shape 1"/>
          <p:cNvSpPr/>
          <p:nvPr/>
        </p:nvSpPr>
        <p:spPr bwMode="auto">
          <a:xfrm>
            <a:off x="0" y="0"/>
            <a:ext cx="14630400" cy="8229600"/>
          </a:xfrm>
          <a:prstGeom prst="rect">
            <a:avLst/>
          </a:prstGeom>
          <a:solidFill>
            <a:srgbClr val="1F1F1F"/>
          </a:solidFill>
          <a:ln/>
        </p:spPr>
      </p:sp>
      <p:pic>
        <p:nvPicPr>
          <p:cNvPr id="2066277638"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5 master">
    <p:spTree>
      <p:nvGrpSpPr>
        <p:cNvPr id="1" name=""/>
        <p:cNvGrpSpPr/>
        <p:nvPr/>
      </p:nvGrpSpPr>
      <p:grpSpPr bwMode="auto">
        <a:xfrm>
          <a:off x="0" y="0"/>
          <a:ext cx="0" cy="0"/>
          <a:chOff x="0" y="0"/>
          <a:chExt cx="0" cy="0"/>
        </a:xfrm>
      </p:grpSpPr>
      <p:sp>
        <p:nvSpPr>
          <p:cNvPr id="511427282" name="Shape 0"/>
          <p:cNvSpPr/>
          <p:nvPr/>
        </p:nvSpPr>
        <p:spPr bwMode="auto">
          <a:xfrm>
            <a:off x="0" y="0"/>
            <a:ext cx="14630400" cy="8229600"/>
          </a:xfrm>
          <a:prstGeom prst="rect">
            <a:avLst/>
          </a:prstGeom>
          <a:solidFill>
            <a:srgbClr val="121212"/>
          </a:solidFill>
          <a:ln/>
        </p:spPr>
      </p:sp>
      <p:sp>
        <p:nvSpPr>
          <p:cNvPr id="260411011" name="Shape 1"/>
          <p:cNvSpPr/>
          <p:nvPr/>
        </p:nvSpPr>
        <p:spPr bwMode="auto">
          <a:xfrm>
            <a:off x="0" y="0"/>
            <a:ext cx="14630400" cy="8229600"/>
          </a:xfrm>
          <a:prstGeom prst="rect">
            <a:avLst/>
          </a:prstGeom>
          <a:solidFill>
            <a:srgbClr val="1F1F1F"/>
          </a:solidFill>
          <a:ln/>
        </p:spPr>
      </p:sp>
      <p:pic>
        <p:nvPicPr>
          <p:cNvPr id="2078004441"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6 master">
    <p:spTree>
      <p:nvGrpSpPr>
        <p:cNvPr id="1" name=""/>
        <p:cNvGrpSpPr/>
        <p:nvPr/>
      </p:nvGrpSpPr>
      <p:grpSpPr bwMode="auto">
        <a:xfrm>
          <a:off x="0" y="0"/>
          <a:ext cx="0" cy="0"/>
          <a:chOff x="0" y="0"/>
          <a:chExt cx="0" cy="0"/>
        </a:xfrm>
      </p:grpSpPr>
      <p:sp>
        <p:nvSpPr>
          <p:cNvPr id="692544735" name="Shape 0"/>
          <p:cNvSpPr/>
          <p:nvPr/>
        </p:nvSpPr>
        <p:spPr bwMode="auto">
          <a:xfrm>
            <a:off x="0" y="0"/>
            <a:ext cx="14630400" cy="8229600"/>
          </a:xfrm>
          <a:prstGeom prst="rect">
            <a:avLst/>
          </a:prstGeom>
          <a:solidFill>
            <a:srgbClr val="121212"/>
          </a:solidFill>
          <a:ln/>
        </p:spPr>
      </p:sp>
      <p:sp>
        <p:nvSpPr>
          <p:cNvPr id="948434599" name="Shape 1"/>
          <p:cNvSpPr/>
          <p:nvPr/>
        </p:nvSpPr>
        <p:spPr bwMode="auto">
          <a:xfrm>
            <a:off x="0" y="0"/>
            <a:ext cx="14630400" cy="8229600"/>
          </a:xfrm>
          <a:prstGeom prst="rect">
            <a:avLst/>
          </a:prstGeom>
          <a:solidFill>
            <a:srgbClr val="1F1F1F"/>
          </a:solidFill>
          <a:ln/>
        </p:spPr>
      </p:sp>
      <p:pic>
        <p:nvPicPr>
          <p:cNvPr id="438580149"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7 master">
    <p:spTree>
      <p:nvGrpSpPr>
        <p:cNvPr id="1" name=""/>
        <p:cNvGrpSpPr/>
        <p:nvPr/>
      </p:nvGrpSpPr>
      <p:grpSpPr bwMode="auto">
        <a:xfrm>
          <a:off x="0" y="0"/>
          <a:ext cx="0" cy="0"/>
          <a:chOff x="0" y="0"/>
          <a:chExt cx="0" cy="0"/>
        </a:xfrm>
      </p:grpSpPr>
      <p:sp>
        <p:nvSpPr>
          <p:cNvPr id="774146328" name="Shape 0"/>
          <p:cNvSpPr/>
          <p:nvPr/>
        </p:nvSpPr>
        <p:spPr bwMode="auto">
          <a:xfrm>
            <a:off x="0" y="0"/>
            <a:ext cx="14630400" cy="8229600"/>
          </a:xfrm>
          <a:prstGeom prst="rect">
            <a:avLst/>
          </a:prstGeom>
          <a:solidFill>
            <a:srgbClr val="121212"/>
          </a:solidFill>
          <a:ln/>
        </p:spPr>
      </p:sp>
      <p:sp>
        <p:nvSpPr>
          <p:cNvPr id="740712353" name="Shape 1"/>
          <p:cNvSpPr/>
          <p:nvPr/>
        </p:nvSpPr>
        <p:spPr bwMode="auto">
          <a:xfrm>
            <a:off x="0" y="0"/>
            <a:ext cx="14630400" cy="8229600"/>
          </a:xfrm>
          <a:prstGeom prst="rect">
            <a:avLst/>
          </a:prstGeom>
          <a:solidFill>
            <a:srgbClr val="1F1F1F"/>
          </a:solidFill>
          <a:ln/>
        </p:spPr>
      </p:sp>
      <p:pic>
        <p:nvPicPr>
          <p:cNvPr id="288241539"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8 master">
    <p:spTree>
      <p:nvGrpSpPr>
        <p:cNvPr id="1" name=""/>
        <p:cNvGrpSpPr/>
        <p:nvPr/>
      </p:nvGrpSpPr>
      <p:grpSpPr bwMode="auto">
        <a:xfrm>
          <a:off x="0" y="0"/>
          <a:ext cx="0" cy="0"/>
          <a:chOff x="0" y="0"/>
          <a:chExt cx="0" cy="0"/>
        </a:xfrm>
      </p:grpSpPr>
      <p:sp>
        <p:nvSpPr>
          <p:cNvPr id="1021557217" name="Shape 0"/>
          <p:cNvSpPr/>
          <p:nvPr/>
        </p:nvSpPr>
        <p:spPr bwMode="auto">
          <a:xfrm>
            <a:off x="0" y="0"/>
            <a:ext cx="14630400" cy="8229600"/>
          </a:xfrm>
          <a:prstGeom prst="rect">
            <a:avLst/>
          </a:prstGeom>
          <a:solidFill>
            <a:srgbClr val="121212"/>
          </a:solidFill>
          <a:ln/>
        </p:spPr>
      </p:sp>
      <p:sp>
        <p:nvSpPr>
          <p:cNvPr id="1387238491" name="Shape 1"/>
          <p:cNvSpPr/>
          <p:nvPr/>
        </p:nvSpPr>
        <p:spPr bwMode="auto">
          <a:xfrm>
            <a:off x="0" y="0"/>
            <a:ext cx="14630400" cy="8229600"/>
          </a:xfrm>
          <a:prstGeom prst="rect">
            <a:avLst/>
          </a:prstGeom>
          <a:solidFill>
            <a:srgbClr val="1F1F1F"/>
          </a:solidFill>
          <a:ln/>
        </p:spPr>
      </p:sp>
      <p:pic>
        <p:nvPicPr>
          <p:cNvPr id="1516426623"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9 master">
    <p:spTree>
      <p:nvGrpSpPr>
        <p:cNvPr id="1" name=""/>
        <p:cNvGrpSpPr/>
        <p:nvPr/>
      </p:nvGrpSpPr>
      <p:grpSpPr bwMode="auto">
        <a:xfrm>
          <a:off x="0" y="0"/>
          <a:ext cx="0" cy="0"/>
          <a:chOff x="0" y="0"/>
          <a:chExt cx="0" cy="0"/>
        </a:xfrm>
      </p:grpSpPr>
      <p:sp>
        <p:nvSpPr>
          <p:cNvPr id="678728704" name="Shape 0"/>
          <p:cNvSpPr/>
          <p:nvPr/>
        </p:nvSpPr>
        <p:spPr bwMode="auto">
          <a:xfrm>
            <a:off x="0" y="0"/>
            <a:ext cx="14630400" cy="8229600"/>
          </a:xfrm>
          <a:prstGeom prst="rect">
            <a:avLst/>
          </a:prstGeom>
          <a:solidFill>
            <a:srgbClr val="121212"/>
          </a:solidFill>
          <a:ln/>
        </p:spPr>
      </p:sp>
      <p:sp>
        <p:nvSpPr>
          <p:cNvPr id="732218955" name="Shape 1"/>
          <p:cNvSpPr/>
          <p:nvPr/>
        </p:nvSpPr>
        <p:spPr bwMode="auto">
          <a:xfrm>
            <a:off x="0" y="0"/>
            <a:ext cx="14630400" cy="8229600"/>
          </a:xfrm>
          <a:prstGeom prst="rect">
            <a:avLst/>
          </a:prstGeom>
          <a:solidFill>
            <a:srgbClr val="1F1F1F"/>
          </a:solidFill>
          <a:ln/>
        </p:spPr>
      </p:sp>
      <p:pic>
        <p:nvPicPr>
          <p:cNvPr id="1376782857"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Slide 10 master">
    <p:spTree>
      <p:nvGrpSpPr>
        <p:cNvPr id="1" name=""/>
        <p:cNvGrpSpPr/>
        <p:nvPr/>
      </p:nvGrpSpPr>
      <p:grpSpPr bwMode="auto">
        <a:xfrm>
          <a:off x="0" y="0"/>
          <a:ext cx="0" cy="0"/>
          <a:chOff x="0" y="0"/>
          <a:chExt cx="0" cy="0"/>
        </a:xfrm>
      </p:grpSpPr>
      <p:sp>
        <p:nvSpPr>
          <p:cNvPr id="473378554" name="Shape 0"/>
          <p:cNvSpPr/>
          <p:nvPr/>
        </p:nvSpPr>
        <p:spPr bwMode="auto">
          <a:xfrm>
            <a:off x="0" y="0"/>
            <a:ext cx="14630400" cy="8229600"/>
          </a:xfrm>
          <a:prstGeom prst="rect">
            <a:avLst/>
          </a:prstGeom>
          <a:solidFill>
            <a:srgbClr val="121212"/>
          </a:solidFill>
          <a:ln/>
        </p:spPr>
      </p:sp>
      <p:sp>
        <p:nvSpPr>
          <p:cNvPr id="687274241" name="Shape 1"/>
          <p:cNvSpPr/>
          <p:nvPr/>
        </p:nvSpPr>
        <p:spPr bwMode="auto">
          <a:xfrm>
            <a:off x="0" y="0"/>
            <a:ext cx="14630400" cy="8229600"/>
          </a:xfrm>
          <a:prstGeom prst="rect">
            <a:avLst/>
          </a:prstGeom>
          <a:solidFill>
            <a:srgbClr val="1F1F1F"/>
          </a:solidFill>
          <a:ln/>
        </p:spPr>
      </p:sp>
      <p:pic>
        <p:nvPicPr>
          <p:cNvPr id="129977833" name="Image 0" descr="preencoded.png">
            <a:hlinkClick r:id="rId2"/>
          </p:cNvPr>
          <p:cNvPicPr>
            <a:picLocks noChangeAspect="1"/>
          </p:cNvPicPr>
          <p:nvPr/>
        </p:nvPicPr>
        <p:blipFill rotWithShape="1">
          <a:blip r:embed="rId3"/>
          <a:stretch/>
        </p:blipFill>
        <p:spPr bwMode="auto">
          <a:xfrm>
            <a:off x="12839214" y="7749539"/>
            <a:ext cx="1722604" cy="411480"/>
          </a:xfrm>
          <a:prstGeom prst="rect">
            <a:avLst/>
          </a:prstGeom>
        </p:spPr>
      </p:pic>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2.jp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spTree>
      <p:nvGrpSpPr>
        <p:cNvPr id="1" name=""/>
        <p:cNvGrpSpPr/>
        <p:nvPr/>
      </p:nvGrpSpPr>
      <p:grpSpPr bwMode="auto">
        <a:xfrm>
          <a:off x="0" y="0"/>
          <a:ext cx="0" cy="0"/>
          <a:chOff x="0" y="0"/>
          <a:chExt cx="0" cy="0"/>
        </a:xfrm>
      </p:grpSpPr>
      <p:pic>
        <p:nvPicPr>
          <p:cNvPr id="606850147" name="Image 0"/>
          <p:cNvPicPr>
            <a:picLocks noChangeAspect="1"/>
          </p:cNvPicPr>
          <p:nvPr/>
        </p:nvPicPr>
        <p:blipFill rotWithShape="1">
          <a:blip r:embed="rId3"/>
          <a:stretch/>
        </p:blipFill>
        <p:spPr bwMode="auto">
          <a:xfrm flipH="0" flipV="0">
            <a:off x="8661195" y="-57150"/>
            <a:ext cx="5969205" cy="8286750"/>
          </a:xfrm>
          <a:prstGeom prst="rect">
            <a:avLst/>
          </a:prstGeom>
        </p:spPr>
      </p:pic>
      <p:sp>
        <p:nvSpPr>
          <p:cNvPr id="1607786294" name="Text 0"/>
          <p:cNvSpPr/>
          <p:nvPr/>
        </p:nvSpPr>
        <p:spPr bwMode="auto">
          <a:xfrm flipH="0" flipV="0">
            <a:off x="413285" y="1376287"/>
            <a:ext cx="7630013" cy="1570315"/>
          </a:xfrm>
          <a:prstGeom prst="rect">
            <a:avLst/>
          </a:prstGeom>
          <a:noFill/>
          <a:ln/>
        </p:spPr>
        <p:txBody>
          <a:bodyPr wrap="square" lIns="0" tIns="0" rIns="0" bIns="0" rtlCol="0" anchor="t"/>
          <a:lstStyle/>
          <a:p>
            <a:pPr marL="0" indent="0" algn="l">
              <a:lnSpc>
                <a:spcPts val="5550"/>
              </a:lnSpc>
              <a:buNone/>
              <a:defRPr/>
            </a:pPr>
            <a:r>
              <a:rPr lang="en-US" sz="4800">
                <a:solidFill>
                  <a:srgbClr val="FA95AF"/>
                </a:solidFill>
                <a:latin typeface="Anton"/>
                <a:ea typeface="Anton"/>
                <a:cs typeface="Anton"/>
              </a:rPr>
              <a:t>The Induced Leak </a:t>
            </a:r>
            <a:endParaRPr lang="en-US" sz="4800">
              <a:solidFill>
                <a:srgbClr val="FA95AF"/>
              </a:solidFill>
              <a:latin typeface="Anton"/>
              <a:ea typeface="Anton"/>
              <a:cs typeface="Anton"/>
            </a:endParaRPr>
          </a:p>
          <a:p>
            <a:pPr marL="0" indent="0" algn="l">
              <a:lnSpc>
                <a:spcPts val="5549"/>
              </a:lnSpc>
              <a:buNone/>
              <a:defRPr/>
            </a:pPr>
            <a:r>
              <a:rPr lang="en-US" sz="3600">
                <a:solidFill>
                  <a:srgbClr val="FA95AF"/>
                </a:solidFill>
                <a:latin typeface="Anton"/>
                <a:ea typeface="Anton"/>
                <a:cs typeface="Anton"/>
              </a:rPr>
              <a:t>Faraday's Law as a Security Threat</a:t>
            </a:r>
            <a:endParaRPr lang="en-US" sz="4800"/>
          </a:p>
        </p:txBody>
      </p:sp>
      <p:sp>
        <p:nvSpPr>
          <p:cNvPr id="589132048" name="Text 1"/>
          <p:cNvSpPr/>
          <p:nvPr/>
        </p:nvSpPr>
        <p:spPr bwMode="auto">
          <a:xfrm>
            <a:off x="793790" y="4206360"/>
            <a:ext cx="7556421" cy="1088708"/>
          </a:xfrm>
          <a:prstGeom prst="rect">
            <a:avLst/>
          </a:prstGeom>
          <a:noFill/>
          <a:ln/>
        </p:spPr>
        <p:txBody>
          <a:bodyPr wrap="square" lIns="0" tIns="0" rIns="0" bIns="0" rtlCol="0" anchor="t"/>
          <a:lstStyle/>
          <a:p>
            <a:pPr marL="0" indent="0" algn="l">
              <a:lnSpc>
                <a:spcPts val="2850"/>
              </a:lnSpc>
              <a:buNone/>
              <a:defRPr/>
            </a:pPr>
            <a:r>
              <a:rPr lang="en-US" sz="2000">
                <a:solidFill>
                  <a:srgbClr val="E0D6DE"/>
                </a:solidFill>
                <a:latin typeface="Fira Sans"/>
                <a:ea typeface="Fira Sans"/>
                <a:cs typeface="Fira Sans"/>
              </a:rPr>
              <a:t>How electromagnetic crosstalk leaks binary data. A concise technical walkthrough : from moving electrons to recoverable voltage pulses, and practical mitigations.</a:t>
            </a:r>
            <a:endParaRPr lang="en-US" sz="2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spTree>
      <p:nvGrpSpPr>
        <p:cNvPr id="1" name=""/>
        <p:cNvGrpSpPr/>
        <p:nvPr/>
      </p:nvGrpSpPr>
      <p:grpSpPr bwMode="auto">
        <a:xfrm>
          <a:off x="0" y="0"/>
          <a:ext cx="0" cy="0"/>
          <a:chOff x="0" y="0"/>
          <a:chExt cx="0" cy="0"/>
        </a:xfrm>
      </p:grpSpPr>
      <p:pic>
        <p:nvPicPr>
          <p:cNvPr id="1097043633" name="Image 0"/>
          <p:cNvPicPr>
            <a:picLocks noChangeAspect="1"/>
          </p:cNvPicPr>
          <p:nvPr/>
        </p:nvPicPr>
        <p:blipFill rotWithShape="1">
          <a:blip r:embed="rId3"/>
          <a:stretch/>
        </p:blipFill>
        <p:spPr bwMode="auto">
          <a:xfrm>
            <a:off x="8493919" y="0"/>
            <a:ext cx="6136481" cy="8229599"/>
          </a:xfrm>
          <a:prstGeom prst="rect">
            <a:avLst/>
          </a:prstGeom>
        </p:spPr>
      </p:pic>
      <p:sp>
        <p:nvSpPr>
          <p:cNvPr id="1576726823" name="Text 0"/>
          <p:cNvSpPr/>
          <p:nvPr/>
        </p:nvSpPr>
        <p:spPr bwMode="auto">
          <a:xfrm flipH="0" flipV="0">
            <a:off x="603289" y="1696163"/>
            <a:ext cx="5592159" cy="566975"/>
          </a:xfrm>
          <a:prstGeom prst="rect">
            <a:avLst/>
          </a:prstGeom>
          <a:noFill/>
          <a:ln/>
        </p:spPr>
        <p:txBody>
          <a:bodyPr wrap="square" lIns="0" tIns="0" rIns="0" bIns="0" rtlCol="0" anchor="t"/>
          <a:lstStyle/>
          <a:p>
            <a:pPr marL="0" indent="0" algn="l">
              <a:lnSpc>
                <a:spcPts val="4450"/>
              </a:lnSpc>
              <a:buNone/>
              <a:defRPr/>
            </a:pPr>
            <a:r>
              <a:rPr lang="en-US" sz="3550">
                <a:solidFill>
                  <a:srgbClr val="FA95AF"/>
                </a:solidFill>
                <a:latin typeface="Anton"/>
                <a:ea typeface="Anton"/>
                <a:cs typeface="Anton"/>
              </a:rPr>
              <a:t>Current &amp; Its Magnetic Field</a:t>
            </a:r>
            <a:endParaRPr lang="en-US" sz="3550"/>
          </a:p>
        </p:txBody>
      </p:sp>
      <p:sp>
        <p:nvSpPr>
          <p:cNvPr id="730631855" name="Text 1"/>
          <p:cNvSpPr/>
          <p:nvPr/>
        </p:nvSpPr>
        <p:spPr bwMode="auto">
          <a:xfrm>
            <a:off x="603289" y="2603301"/>
            <a:ext cx="7556421" cy="1088708"/>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Electric current is a flow of charges. Any moving charge produces a magnetic field encircling the conductor (Ampère's Law). Field strength scales with current and decays with radial distance.</a:t>
            </a:r>
            <a:endParaRPr lang="en-US" sz="1750"/>
          </a:p>
        </p:txBody>
      </p:sp>
      <p:sp>
        <p:nvSpPr>
          <p:cNvPr id="260669889" name="Shape 2"/>
          <p:cNvSpPr/>
          <p:nvPr/>
        </p:nvSpPr>
        <p:spPr bwMode="auto">
          <a:xfrm>
            <a:off x="603289" y="3947159"/>
            <a:ext cx="3664744" cy="2395657"/>
          </a:xfrm>
          <a:prstGeom prst="roundRect">
            <a:avLst>
              <a:gd name="adj" fmla="val 1420"/>
            </a:avLst>
          </a:prstGeom>
          <a:solidFill>
            <a:srgbClr val="3E3E3E"/>
          </a:solidFill>
          <a:ln/>
        </p:spPr>
      </p:sp>
      <p:sp>
        <p:nvSpPr>
          <p:cNvPr id="1696328174" name="Text 3"/>
          <p:cNvSpPr/>
          <p:nvPr/>
        </p:nvSpPr>
        <p:spPr bwMode="auto">
          <a:xfrm flipH="0" flipV="0">
            <a:off x="753903" y="4253507"/>
            <a:ext cx="1605557" cy="549592"/>
          </a:xfrm>
          <a:prstGeom prst="rect">
            <a:avLst/>
          </a:prstGeom>
          <a:noFill/>
          <a:ln/>
        </p:spPr>
        <p:txBody>
          <a:bodyPr wrap="square" lIns="0" tIns="0" rIns="0" bIns="0" rtlCol="0" anchor="t"/>
          <a:lstStyle/>
          <a:p>
            <a:pPr marL="0" indent="0" algn="l">
              <a:lnSpc>
                <a:spcPts val="2750"/>
              </a:lnSpc>
              <a:buNone/>
              <a:defRPr/>
            </a:pPr>
            <mc:AlternateContent xmlns:mc="http://schemas.openxmlformats.org/markup-compatibility/2006" xmlns:m="http://schemas.openxmlformats.org/officeDocument/2006/math">
              <mc:Choice xmlns:a14="http://schemas.microsoft.com/office/drawing/2010/main" Requires="a14">
                <a14:m>
                  <m:oMathPara>
                    <m:oMathParaPr/>
                    <m:oMath>
                      <m:r>
                        <m:rPr>
                          <m:sty m:val="p"/>
                        </m:rPr>
                        <a:rPr lang="en-US" sz="2400" u="none" strike="noStrike" cap="none" spc="0">
                          <a:solidFill>
                            <a:srgbClr val="E0D6DE"/>
                          </a:solidFill>
                          <a:latin typeface="Cambria Math"/>
                          <a:ea typeface="Cambria Math"/>
                          <a:cs typeface="Cambria Math"/>
                        </a:rPr>
                        <m:t>B= </m:t>
                      </m:r>
                      <m:f>
                        <m:fPr>
                          <m:ctrlPr>
                            <a:rPr lang="en-US" sz="2400" b="0" i="1" u="none" strike="noStrike" cap="none" spc="0">
                              <a:solidFill>
                                <a:srgbClr val="E0D6DE"/>
                              </a:solidFill>
                              <a:latin typeface="Cambria Math"/>
                              <a:ea typeface="Cambria Math"/>
                              <a:cs typeface="Cambria Math"/>
                            </a:rPr>
                          </m:ctrlPr>
                        </m:fPr>
                        <m:num>
                          <m:sSub>
                            <m:sSubPr>
                              <m:ctrlPr>
                                <a:rPr lang="en-US" sz="2400" b="0" i="1" u="none" strike="noStrike" cap="none" spc="0">
                                  <a:solidFill>
                                    <a:srgbClr val="E0D6DE"/>
                                  </a:solidFill>
                                  <a:latin typeface="Cambria Math"/>
                                  <a:ea typeface="Cambria Math"/>
                                  <a:cs typeface="Cambria Math"/>
                                </a:rPr>
                              </m:ctrlPr>
                            </m:sSubPr>
                            <m:e>
                              <m:r>
                                <m:rPr>
                                  <m:sty m:val="i"/>
                                </m:rPr>
                                <a:rPr lang="en-US" sz="2400" u="none" strike="noStrike" cap="none" spc="0">
                                  <a:solidFill>
                                    <a:srgbClr val="E0D6DE"/>
                                  </a:solidFill>
                                  <a:latin typeface="Cambria Math"/>
                                  <a:ea typeface="Cambria Math"/>
                                  <a:cs typeface="Cambria Math"/>
                                </a:rPr>
                                <m:t>μ</m:t>
                              </m:r>
                            </m:e>
                            <m:sub>
                              <m:r>
                                <m:rPr>
                                  <m:sty m:val="i"/>
                                </m:rPr>
                                <a:rPr lang="en-US" sz="2400" u="none" strike="noStrike" cap="none" spc="0">
                                  <a:solidFill>
                                    <a:srgbClr val="E0D6DE"/>
                                  </a:solidFill>
                                  <a:latin typeface="Cambria Math"/>
                                  <a:ea typeface="Cambria Math"/>
                                  <a:cs typeface="Cambria Math"/>
                                </a:rPr>
                                <m:t>0</m:t>
                              </m:r>
                            </m:sub>
                          </m:sSub>
                          <m:r>
                            <m:rPr>
                              <m:sty m:val="i"/>
                            </m:rPr>
                            <a:rPr lang="en-US" sz="2400" u="none" strike="noStrike" cap="none" spc="0">
                              <a:solidFill>
                                <a:srgbClr val="E0D6DE"/>
                              </a:solidFill>
                              <a:latin typeface="Cambria Math"/>
                              <a:ea typeface="Cambria Math"/>
                              <a:cs typeface="Cambria Math"/>
                            </a:rPr>
                            <m:t>I</m:t>
                          </m:r>
                        </m:num>
                        <m:den>
                          <m:r>
                            <m:rPr>
                              <m:sty m:val="i"/>
                            </m:rPr>
                            <a:rPr lang="en-US" sz="2400" u="none" strike="noStrike" cap="none" spc="0">
                              <a:solidFill>
                                <a:srgbClr val="E0D6DE"/>
                              </a:solidFill>
                              <a:latin typeface="Cambria Math"/>
                              <a:ea typeface="Cambria Math"/>
                              <a:cs typeface="Cambria Math"/>
                            </a:rPr>
                            <m:t>2R</m:t>
                          </m:r>
                        </m:den>
                      </m:f>
                    </m:oMath>
                  </m:oMathPara>
                </a14:m>
              </mc:Choice>
              <mc:Fallback/>
            </mc:AlternateContent>
            <a:endParaRPr lang="en-US" sz="2400"/>
          </a:p>
        </p:txBody>
      </p:sp>
      <p:sp>
        <p:nvSpPr>
          <p:cNvPr id="2120577343" name="Text 4"/>
          <p:cNvSpPr/>
          <p:nvPr/>
        </p:nvSpPr>
        <p:spPr bwMode="auto">
          <a:xfrm>
            <a:off x="830103" y="4845843"/>
            <a:ext cx="3211116" cy="1088708"/>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Magnetic flux density B around a long straight wire — inverse proportion to distance r.</a:t>
            </a:r>
            <a:endParaRPr lang="en-US" sz="1750"/>
          </a:p>
        </p:txBody>
      </p:sp>
      <p:sp>
        <p:nvSpPr>
          <p:cNvPr id="1243555627" name="Shape 5"/>
          <p:cNvSpPr/>
          <p:nvPr/>
        </p:nvSpPr>
        <p:spPr bwMode="auto">
          <a:xfrm>
            <a:off x="4494847" y="3947159"/>
            <a:ext cx="3664863" cy="2395657"/>
          </a:xfrm>
          <a:prstGeom prst="roundRect">
            <a:avLst>
              <a:gd name="adj" fmla="val 1420"/>
            </a:avLst>
          </a:prstGeom>
          <a:solidFill>
            <a:srgbClr val="3E3E3E"/>
          </a:solidFill>
          <a:ln/>
        </p:spPr>
      </p:sp>
      <p:sp>
        <p:nvSpPr>
          <p:cNvPr id="2131639417" name="Text 6"/>
          <p:cNvSpPr/>
          <p:nvPr/>
        </p:nvSpPr>
        <p:spPr bwMode="auto">
          <a:xfrm>
            <a:off x="4721661" y="4173973"/>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Design takeaway</a:t>
            </a:r>
            <a:endParaRPr lang="en-US" sz="2200"/>
          </a:p>
        </p:txBody>
      </p:sp>
      <p:sp>
        <p:nvSpPr>
          <p:cNvPr id="889100838" name="Text 7"/>
          <p:cNvSpPr/>
          <p:nvPr/>
        </p:nvSpPr>
        <p:spPr bwMode="auto">
          <a:xfrm>
            <a:off x="4721661" y="4664392"/>
            <a:ext cx="3211235" cy="1451610"/>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Higher currents and closer proximities increase off‑wire magnetic field intensity and leakage risk.</a:t>
            </a:r>
            <a:endParaRPr lang="en-US" sz="17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spTree>
      <p:nvGrpSpPr>
        <p:cNvPr id="1" name=""/>
        <p:cNvGrpSpPr/>
        <p:nvPr/>
      </p:nvGrpSpPr>
      <p:grpSpPr bwMode="auto">
        <a:xfrm>
          <a:off x="0" y="0"/>
          <a:ext cx="0" cy="0"/>
          <a:chOff x="0" y="0"/>
          <a:chExt cx="0" cy="0"/>
        </a:xfrm>
      </p:grpSpPr>
      <p:pic>
        <p:nvPicPr>
          <p:cNvPr id="479446519" name="Image 0"/>
          <p:cNvPicPr>
            <a:picLocks noChangeAspect="1"/>
          </p:cNvPicPr>
          <p:nvPr/>
        </p:nvPicPr>
        <p:blipFill rotWithShape="1">
          <a:blip r:embed="rId3"/>
          <a:stretch/>
        </p:blipFill>
        <p:spPr bwMode="auto">
          <a:xfrm>
            <a:off x="0" y="0"/>
            <a:ext cx="5965150" cy="8229600"/>
          </a:xfrm>
          <a:prstGeom prst="rect">
            <a:avLst/>
          </a:prstGeom>
        </p:spPr>
      </p:pic>
      <p:sp>
        <p:nvSpPr>
          <p:cNvPr id="252763822" name="Text 0"/>
          <p:cNvSpPr/>
          <p:nvPr/>
        </p:nvSpPr>
        <p:spPr bwMode="auto">
          <a:xfrm>
            <a:off x="6470689" y="1484232"/>
            <a:ext cx="5552242" cy="566976"/>
          </a:xfrm>
          <a:prstGeom prst="rect">
            <a:avLst/>
          </a:prstGeom>
          <a:noFill/>
          <a:ln/>
        </p:spPr>
        <p:txBody>
          <a:bodyPr wrap="none" lIns="0" tIns="0" rIns="0" bIns="0" rtlCol="0" anchor="t"/>
          <a:lstStyle/>
          <a:p>
            <a:pPr marL="0" indent="0" algn="l">
              <a:lnSpc>
                <a:spcPts val="4450"/>
              </a:lnSpc>
              <a:buNone/>
              <a:defRPr/>
            </a:pPr>
            <a:r>
              <a:rPr lang="en-US" sz="3550">
                <a:solidFill>
                  <a:srgbClr val="FA95AF"/>
                </a:solidFill>
                <a:latin typeface="Anton"/>
                <a:ea typeface="Anton"/>
                <a:cs typeface="Anton"/>
              </a:rPr>
              <a:t>Magnetic Flux &amp; Faraday's Law</a:t>
            </a:r>
            <a:endParaRPr lang="en-US" sz="3550"/>
          </a:p>
        </p:txBody>
      </p:sp>
      <p:sp>
        <p:nvSpPr>
          <p:cNvPr id="1385403428" name="Text 1"/>
          <p:cNvSpPr/>
          <p:nvPr/>
        </p:nvSpPr>
        <p:spPr bwMode="auto">
          <a:xfrm>
            <a:off x="6470689" y="2391369"/>
            <a:ext cx="7556421" cy="1088708"/>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Magnetic flux Φ quantifies how much magnetic field passes through a loop: Φ = B · A · cosθ. Faraday's Law relates changing flux to an induced voltage:</a:t>
            </a:r>
            <a:endParaRPr lang="en-US" sz="1750"/>
          </a:p>
        </p:txBody>
      </p:sp>
      <p:sp>
        <p:nvSpPr>
          <p:cNvPr id="791140063" name="Shape 2"/>
          <p:cNvSpPr/>
          <p:nvPr/>
        </p:nvSpPr>
        <p:spPr bwMode="auto">
          <a:xfrm>
            <a:off x="6470689" y="3735228"/>
            <a:ext cx="3664744" cy="2819519"/>
          </a:xfrm>
          <a:prstGeom prst="roundRect">
            <a:avLst>
              <a:gd name="adj" fmla="val 1207"/>
            </a:avLst>
          </a:prstGeom>
          <a:solidFill>
            <a:srgbClr val="1F1F1F"/>
          </a:solidFill>
          <a:ln w="30480">
            <a:solidFill>
              <a:srgbClr val="575757"/>
            </a:solidFill>
            <a:prstDash val="solid"/>
          </a:ln>
        </p:spPr>
      </p:sp>
      <p:sp>
        <p:nvSpPr>
          <p:cNvPr id="434613069" name="Text 3"/>
          <p:cNvSpPr/>
          <p:nvPr/>
        </p:nvSpPr>
        <p:spPr bwMode="auto">
          <a:xfrm>
            <a:off x="6727983" y="3992522"/>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Faraday</a:t>
            </a:r>
            <a:endParaRPr lang="en-US" sz="2200"/>
          </a:p>
        </p:txBody>
      </p:sp>
      <p:sp>
        <p:nvSpPr>
          <p:cNvPr id="1728880007" name="Text 4"/>
          <p:cNvSpPr/>
          <p:nvPr/>
        </p:nvSpPr>
        <p:spPr bwMode="auto">
          <a:xfrm>
            <a:off x="6727983" y="4482940"/>
            <a:ext cx="3150156" cy="1088708"/>
          </a:xfrm>
          <a:prstGeom prst="rect">
            <a:avLst/>
          </a:prstGeom>
          <a:noFill/>
          <a:ln/>
        </p:spPr>
        <p:txBody>
          <a:bodyPr wrap="square" lIns="0" tIns="0" rIns="0" bIns="0" rtlCol="0" anchor="t"/>
          <a:lstStyle/>
          <a:p>
            <a:pPr marL="0" indent="0" algn="l">
              <a:lnSpc>
                <a:spcPts val="2850"/>
              </a:lnSpc>
              <a:buNone/>
              <a:defRPr/>
            </a:pPr>
            <mc:AlternateContent xmlns:mc="http://schemas.openxmlformats.org/markup-compatibility/2006" xmlns:m="http://schemas.openxmlformats.org/officeDocument/2006/math">
              <mc:Choice xmlns:a14="http://schemas.microsoft.com/office/drawing/2010/main" Requires="a14">
                <a14:m>
                  <m:oMathPara>
                    <m:oMathParaPr/>
                    <m:oMath>
                      <m:r>
                        <m:rPr>
                          <m:sty m:val="p"/>
                        </m:rPr>
                        <a:rPr lang="en-US" sz="2600" u="none" strike="noStrike" cap="none" spc="0">
                          <a:solidFill>
                            <a:srgbClr val="E0D6DE"/>
                          </a:solidFill>
                          <a:latin typeface="Cambria Math"/>
                          <a:ea typeface="Cambria Math"/>
                          <a:cs typeface="Cambria Math"/>
                        </a:rPr>
                        <m:t>ε=</m:t>
                      </m:r>
                      <m:f>
                        <m:fPr>
                          <m:ctrlPr>
                            <a:rPr lang="en-US" sz="2600" b="0" i="1" u="none" strike="noStrike" cap="none" spc="0">
                              <a:solidFill>
                                <a:srgbClr val="E0D6DE"/>
                              </a:solidFill>
                              <a:latin typeface="Cambria Math"/>
                              <a:ea typeface="Cambria Math"/>
                              <a:cs typeface="Cambria Math"/>
                            </a:rPr>
                          </m:ctrlPr>
                        </m:fPr>
                        <m:num>
                          <m:r>
                            <m:rPr>
                              <m:sty m:val="i"/>
                            </m:rPr>
                            <a:rPr lang="en-US" sz="2600" u="none" strike="noStrike" cap="none" spc="0">
                              <a:solidFill>
                                <a:srgbClr val="E0D6DE"/>
                              </a:solidFill>
                              <a:latin typeface="Cambria Math"/>
                              <a:ea typeface="Cambria Math"/>
                              <a:cs typeface="Cambria Math"/>
                            </a:rPr>
                            <m:t>-d</m:t>
                          </m:r>
                          <m:r>
                            <m:rPr>
                              <m:sty m:val="i"/>
                            </m:rPr>
                            <a:rPr lang="en-US" sz="2600" u="none" strike="noStrike" cap="none" spc="0">
                              <a:solidFill>
                                <a:srgbClr val="E0D6DE"/>
                              </a:solidFill>
                              <a:latin typeface="Cambria Math"/>
                              <a:ea typeface="Cambria Math"/>
                              <a:cs typeface="Cambria Math"/>
                            </a:rPr>
                            <m:t>Φ</m:t>
                          </m:r>
                        </m:num>
                        <m:den>
                          <m:r>
                            <m:rPr>
                              <m:sty m:val="i"/>
                            </m:rPr>
                            <a:rPr lang="en-US" sz="2600" u="none" strike="noStrike" cap="none" spc="0">
                              <a:solidFill>
                                <a:srgbClr val="E0D6DE"/>
                              </a:solidFill>
                              <a:latin typeface="Cambria Math"/>
                              <a:ea typeface="Cambria Math"/>
                              <a:cs typeface="Cambria Math"/>
                            </a:rPr>
                            <m:t>dt</m:t>
                          </m:r>
                        </m:den>
                      </m:f>
                    </m:oMath>
                  </m:oMathPara>
                </a14:m>
              </mc:Choice>
              <mc:Fallback/>
            </mc:AlternateContent>
            <a:r>
              <a:rPr lang="en-US" sz="2600">
                <a:solidFill>
                  <a:srgbClr val="E0D6DE"/>
                </a:solidFill>
                <a:latin typeface="Fira Sans"/>
                <a:ea typeface="Fira Sans"/>
                <a:cs typeface="Fira Sans"/>
              </a:rPr>
              <a:t> </a:t>
            </a:r>
            <a:endParaRPr lang="en-US" sz="2600">
              <a:solidFill>
                <a:srgbClr val="E0D6DE"/>
              </a:solidFill>
              <a:latin typeface="Fira Sans"/>
              <a:ea typeface="Fira Sans"/>
              <a:cs typeface="Fira Sans"/>
            </a:endParaRPr>
          </a:p>
          <a:p>
            <a:pPr marL="0" indent="0" algn="l">
              <a:lnSpc>
                <a:spcPts val="2849"/>
              </a:lnSpc>
              <a:buNone/>
              <a:defRPr/>
            </a:pPr>
            <a:r>
              <a:rPr lang="en-US" sz="1750">
                <a:solidFill>
                  <a:srgbClr val="E0D6DE"/>
                </a:solidFill>
                <a:latin typeface="Fira Sans"/>
                <a:ea typeface="Fira Sans"/>
                <a:cs typeface="Fira Sans"/>
              </a:rPr>
              <a:t> a voltage appears only when flux changes over time.</a:t>
            </a:r>
            <a:endParaRPr lang="en-US" sz="1750"/>
          </a:p>
        </p:txBody>
      </p:sp>
      <p:sp>
        <p:nvSpPr>
          <p:cNvPr id="1585620003" name="Shape 5"/>
          <p:cNvSpPr/>
          <p:nvPr/>
        </p:nvSpPr>
        <p:spPr bwMode="auto">
          <a:xfrm>
            <a:off x="10362247" y="3735228"/>
            <a:ext cx="3664863" cy="2819519"/>
          </a:xfrm>
          <a:prstGeom prst="roundRect">
            <a:avLst>
              <a:gd name="adj" fmla="val 1207"/>
            </a:avLst>
          </a:prstGeom>
          <a:solidFill>
            <a:srgbClr val="1F1F1F"/>
          </a:solidFill>
          <a:ln w="30480">
            <a:solidFill>
              <a:srgbClr val="575757"/>
            </a:solidFill>
            <a:prstDash val="solid"/>
          </a:ln>
        </p:spPr>
      </p:sp>
      <p:sp>
        <p:nvSpPr>
          <p:cNvPr id="1864209732" name="Text 6"/>
          <p:cNvSpPr/>
          <p:nvPr/>
        </p:nvSpPr>
        <p:spPr bwMode="auto">
          <a:xfrm>
            <a:off x="10619541" y="3992522"/>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Implication</a:t>
            </a:r>
            <a:endParaRPr lang="en-US" sz="2200"/>
          </a:p>
        </p:txBody>
      </p:sp>
      <p:sp>
        <p:nvSpPr>
          <p:cNvPr id="447869428" name="Text 7"/>
          <p:cNvSpPr/>
          <p:nvPr/>
        </p:nvSpPr>
        <p:spPr bwMode="auto">
          <a:xfrm>
            <a:off x="10619541" y="4482940"/>
            <a:ext cx="3150275" cy="1814513"/>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Static current produces steady Φ → no induced </a:t>
            </a:r>
            <a:r>
              <a:rPr lang="en-US" sz="1750">
                <a:solidFill>
                  <a:srgbClr val="E0D6DE"/>
                </a:solidFill>
                <a:latin typeface="Adwaita Mono"/>
                <a:ea typeface="Adwaita Mono"/>
                <a:cs typeface="Adwaita Mono"/>
              </a:rPr>
              <a:t>ε</a:t>
            </a:r>
            <a:r>
              <a:rPr lang="en-US" sz="1750">
                <a:solidFill>
                  <a:srgbClr val="E0D6DE"/>
                </a:solidFill>
                <a:latin typeface="Fira Sans"/>
                <a:ea typeface="Fira Sans"/>
                <a:cs typeface="Fira Sans"/>
              </a:rPr>
              <a:t>. Rapid changes in current (edges) create dΦ/dt → measurable pulses.</a:t>
            </a:r>
            <a:endParaRPr lang="en-US" sz="1750"/>
          </a:p>
        </p:txBody>
      </p:sp>
      <p:sp>
        <p:nvSpPr>
          <p:cNvPr id="1463516957" name="Rectangle 10"/>
          <p:cNvSpPr/>
          <p:nvPr/>
        </p:nvSpPr>
        <p:spPr bwMode="auto">
          <a:xfrm>
            <a:off x="12265819" y="7429500"/>
            <a:ext cx="2364581" cy="800100"/>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spTree>
      <p:nvGrpSpPr>
        <p:cNvPr id="1" name=""/>
        <p:cNvGrpSpPr/>
        <p:nvPr/>
      </p:nvGrpSpPr>
      <p:grpSpPr bwMode="auto">
        <a:xfrm>
          <a:off x="0" y="0"/>
          <a:ext cx="0" cy="0"/>
          <a:chOff x="0" y="0"/>
          <a:chExt cx="0" cy="0"/>
        </a:xfrm>
      </p:grpSpPr>
      <p:pic>
        <p:nvPicPr>
          <p:cNvPr id="532858373" name="Image 0"/>
          <p:cNvPicPr>
            <a:picLocks noChangeAspect="1"/>
          </p:cNvPicPr>
          <p:nvPr/>
        </p:nvPicPr>
        <p:blipFill rotWithShape="1">
          <a:blip r:embed="rId3"/>
          <a:stretch/>
        </p:blipFill>
        <p:spPr bwMode="auto">
          <a:xfrm>
            <a:off x="8651081" y="0"/>
            <a:ext cx="5979318" cy="8229600"/>
          </a:xfrm>
          <a:prstGeom prst="rect">
            <a:avLst/>
          </a:prstGeom>
        </p:spPr>
      </p:pic>
      <p:sp>
        <p:nvSpPr>
          <p:cNvPr id="1538126832" name="Text 0"/>
          <p:cNvSpPr/>
          <p:nvPr/>
        </p:nvSpPr>
        <p:spPr bwMode="auto">
          <a:xfrm>
            <a:off x="793790" y="1468398"/>
            <a:ext cx="4536519" cy="566976"/>
          </a:xfrm>
          <a:prstGeom prst="rect">
            <a:avLst/>
          </a:prstGeom>
          <a:noFill/>
          <a:ln/>
        </p:spPr>
        <p:txBody>
          <a:bodyPr wrap="none" lIns="0" tIns="0" rIns="0" bIns="0" rtlCol="0" anchor="t"/>
          <a:lstStyle/>
          <a:p>
            <a:pPr marL="0" indent="0" algn="l">
              <a:lnSpc>
                <a:spcPts val="4450"/>
              </a:lnSpc>
              <a:buNone/>
              <a:defRPr/>
            </a:pPr>
            <a:r>
              <a:rPr lang="en-US" sz="3550">
                <a:solidFill>
                  <a:srgbClr val="FA95AF"/>
                </a:solidFill>
                <a:latin typeface="Anton"/>
                <a:ea typeface="Anton"/>
                <a:cs typeface="Anton"/>
              </a:rPr>
              <a:t>Digital Signals &amp; Edges</a:t>
            </a:r>
            <a:endParaRPr lang="en-US" sz="3550"/>
          </a:p>
        </p:txBody>
      </p:sp>
      <p:sp>
        <p:nvSpPr>
          <p:cNvPr id="419450139" name="Text 1"/>
          <p:cNvSpPr/>
          <p:nvPr/>
        </p:nvSpPr>
        <p:spPr bwMode="auto">
          <a:xfrm>
            <a:off x="793790" y="2375535"/>
            <a:ext cx="7556421" cy="1088708"/>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Digital logic toggles between voltage states; transitions (edges) concentrate spectral energy and dI/dt. Edge polarity maps to induced pulse sign:</a:t>
            </a:r>
            <a:endParaRPr lang="en-US" sz="1750"/>
          </a:p>
        </p:txBody>
      </p:sp>
      <p:sp>
        <p:nvSpPr>
          <p:cNvPr id="1233183733" name="Shape 2"/>
          <p:cNvSpPr/>
          <p:nvPr/>
        </p:nvSpPr>
        <p:spPr bwMode="auto">
          <a:xfrm>
            <a:off x="793790" y="3719393"/>
            <a:ext cx="510302" cy="510302"/>
          </a:xfrm>
          <a:prstGeom prst="roundRect">
            <a:avLst>
              <a:gd name="adj" fmla="val 6667"/>
            </a:avLst>
          </a:prstGeom>
          <a:solidFill>
            <a:srgbClr val="3E3E3E"/>
          </a:solidFill>
          <a:ln/>
        </p:spPr>
      </p:sp>
      <p:sp>
        <p:nvSpPr>
          <p:cNvPr id="1381833505" name="Text 3"/>
          <p:cNvSpPr/>
          <p:nvPr/>
        </p:nvSpPr>
        <p:spPr bwMode="auto">
          <a:xfrm>
            <a:off x="1530906" y="3797260"/>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Rising edge (0 → 1)</a:t>
            </a:r>
            <a:endParaRPr lang="en-US" sz="2200"/>
          </a:p>
        </p:txBody>
      </p:sp>
      <p:sp>
        <p:nvSpPr>
          <p:cNvPr id="467516386" name="Text 4"/>
          <p:cNvSpPr/>
          <p:nvPr/>
        </p:nvSpPr>
        <p:spPr bwMode="auto">
          <a:xfrm>
            <a:off x="1530906" y="4287679"/>
            <a:ext cx="6819305" cy="725805"/>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Fast current increase → positive dΦ/dt → positive induced pulse on a nearby loop.</a:t>
            </a:r>
            <a:endParaRPr lang="en-US" sz="1750"/>
          </a:p>
        </p:txBody>
      </p:sp>
      <p:sp>
        <p:nvSpPr>
          <p:cNvPr id="321040726" name="Shape 5"/>
          <p:cNvSpPr/>
          <p:nvPr/>
        </p:nvSpPr>
        <p:spPr bwMode="auto">
          <a:xfrm>
            <a:off x="793790" y="5467112"/>
            <a:ext cx="510302" cy="510302"/>
          </a:xfrm>
          <a:prstGeom prst="roundRect">
            <a:avLst>
              <a:gd name="adj" fmla="val 6667"/>
            </a:avLst>
          </a:prstGeom>
          <a:solidFill>
            <a:srgbClr val="3E3E3E"/>
          </a:solidFill>
          <a:ln/>
        </p:spPr>
      </p:sp>
      <p:sp>
        <p:nvSpPr>
          <p:cNvPr id="1960568730" name="Text 6"/>
          <p:cNvSpPr/>
          <p:nvPr/>
        </p:nvSpPr>
        <p:spPr bwMode="auto">
          <a:xfrm>
            <a:off x="1530906" y="5544979"/>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Falling edge (1 → 0)</a:t>
            </a:r>
            <a:endParaRPr lang="en-US" sz="2200"/>
          </a:p>
        </p:txBody>
      </p:sp>
      <p:sp>
        <p:nvSpPr>
          <p:cNvPr id="399527656" name="Text 7"/>
          <p:cNvSpPr/>
          <p:nvPr/>
        </p:nvSpPr>
        <p:spPr bwMode="auto">
          <a:xfrm>
            <a:off x="1530906" y="6035397"/>
            <a:ext cx="6819305" cy="725805"/>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Fast current decrease → negative dΦ/dt → negative induced pulse.</a:t>
            </a:r>
            <a:endParaRPr lang="en-US" sz="17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94769699" name="Text 0"/>
          <p:cNvSpPr/>
          <p:nvPr/>
        </p:nvSpPr>
        <p:spPr bwMode="auto">
          <a:xfrm flipH="0" flipV="0">
            <a:off x="680917" y="1362907"/>
            <a:ext cx="5400231" cy="486488"/>
          </a:xfrm>
          <a:prstGeom prst="rect">
            <a:avLst/>
          </a:prstGeom>
          <a:noFill/>
          <a:ln/>
        </p:spPr>
        <p:txBody>
          <a:bodyPr wrap="square" lIns="0" tIns="0" rIns="0" bIns="0" rtlCol="0" anchor="t"/>
          <a:lstStyle/>
          <a:p>
            <a:pPr marL="0" indent="0" algn="l">
              <a:lnSpc>
                <a:spcPts val="3800"/>
              </a:lnSpc>
              <a:buNone/>
              <a:defRPr/>
            </a:pPr>
            <a:r>
              <a:rPr lang="en-US" sz="4400">
                <a:solidFill>
                  <a:srgbClr val="FA95AF"/>
                </a:solidFill>
                <a:latin typeface="Anton"/>
                <a:ea typeface="Anton"/>
                <a:cs typeface="Anton"/>
              </a:rPr>
              <a:t>The Attack: Crosstalk</a:t>
            </a:r>
            <a:endParaRPr lang="en-US" sz="4400"/>
          </a:p>
        </p:txBody>
      </p:sp>
      <p:sp>
        <p:nvSpPr>
          <p:cNvPr id="331825141" name="Text 1"/>
          <p:cNvSpPr/>
          <p:nvPr/>
        </p:nvSpPr>
        <p:spPr bwMode="auto">
          <a:xfrm>
            <a:off x="680918" y="2183130"/>
            <a:ext cx="13268563" cy="578168"/>
          </a:xfrm>
          <a:prstGeom prst="rect">
            <a:avLst/>
          </a:prstGeom>
          <a:noFill/>
          <a:ln/>
        </p:spPr>
        <p:txBody>
          <a:bodyPr wrap="square" lIns="0" tIns="0" rIns="0" bIns="0" rtlCol="0" anchor="t"/>
          <a:lstStyle/>
          <a:p>
            <a:pPr marL="0" indent="0" algn="l">
              <a:lnSpc>
                <a:spcPts val="2250"/>
              </a:lnSpc>
              <a:buNone/>
              <a:defRPr/>
            </a:pPr>
            <a:r>
              <a:rPr lang="en-US" sz="1500">
                <a:solidFill>
                  <a:srgbClr val="E0D6DE"/>
                </a:solidFill>
                <a:latin typeface="Fira Sans"/>
                <a:ea typeface="Fira Sans"/>
                <a:cs typeface="Fira Sans"/>
              </a:rPr>
              <a:t>Crosstalk, often viewed as an electrical engineering nuisance, transforms into a potent security vulnerability when sensitive digital data is involved. It describes the unwanted transfer of energy or signal from one circuit or transmission path to another nearby.</a:t>
            </a:r>
            <a:endParaRPr lang="en-US" sz="1500"/>
          </a:p>
        </p:txBody>
      </p:sp>
      <p:sp>
        <p:nvSpPr>
          <p:cNvPr id="705303868" name="Text 2"/>
          <p:cNvSpPr/>
          <p:nvPr/>
        </p:nvSpPr>
        <p:spPr bwMode="auto">
          <a:xfrm>
            <a:off x="680918" y="2949059"/>
            <a:ext cx="13268563" cy="578168"/>
          </a:xfrm>
          <a:prstGeom prst="rect">
            <a:avLst/>
          </a:prstGeom>
          <a:noFill/>
          <a:ln/>
        </p:spPr>
        <p:txBody>
          <a:bodyPr wrap="square" lIns="0" tIns="0" rIns="0" bIns="0" rtlCol="0" anchor="t"/>
          <a:lstStyle/>
          <a:p>
            <a:pPr marL="0" indent="0" algn="l">
              <a:lnSpc>
                <a:spcPts val="2250"/>
              </a:lnSpc>
              <a:buNone/>
              <a:defRPr/>
            </a:pPr>
            <a:r>
              <a:rPr lang="en-US" sz="1500">
                <a:solidFill>
                  <a:srgbClr val="E0D6DE"/>
                </a:solidFill>
                <a:latin typeface="Fira Sans"/>
                <a:ea typeface="Fira Sans"/>
                <a:cs typeface="Fira Sans"/>
              </a:rPr>
              <a:t>In our context, the rapidly changing current (dI/dt) on an active data line, generated by digital signal edges, creates a transient magnetic field. This field then couples with an adjacent, unsuspecting line, which acts as a passive "aggressor" or "receiver" of this unintended signal.</a:t>
            </a:r>
            <a:endParaRPr lang="en-US" sz="1500"/>
          </a:p>
        </p:txBody>
      </p:sp>
      <p:sp>
        <p:nvSpPr>
          <p:cNvPr id="1032020327" name="Shape 3"/>
          <p:cNvSpPr/>
          <p:nvPr/>
        </p:nvSpPr>
        <p:spPr bwMode="auto">
          <a:xfrm>
            <a:off x="680918" y="3714988"/>
            <a:ext cx="4311610" cy="3151584"/>
          </a:xfrm>
          <a:prstGeom prst="roundRect">
            <a:avLst>
              <a:gd name="adj" fmla="val 926"/>
            </a:avLst>
          </a:prstGeom>
          <a:solidFill>
            <a:srgbClr val="1F1F1F"/>
          </a:solidFill>
          <a:ln w="22860">
            <a:solidFill>
              <a:srgbClr val="575757"/>
            </a:solidFill>
            <a:prstDash val="solid"/>
          </a:ln>
        </p:spPr>
      </p:sp>
      <p:sp>
        <p:nvSpPr>
          <p:cNvPr id="1055914289" name="Text 4"/>
          <p:cNvSpPr/>
          <p:nvPr/>
        </p:nvSpPr>
        <p:spPr bwMode="auto">
          <a:xfrm>
            <a:off x="898327" y="3932396"/>
            <a:ext cx="2432209" cy="303967"/>
          </a:xfrm>
          <a:prstGeom prst="rect">
            <a:avLst/>
          </a:prstGeom>
          <a:noFill/>
          <a:ln/>
        </p:spPr>
        <p:txBody>
          <a:bodyPr wrap="none" lIns="0" tIns="0" rIns="0" bIns="0" rtlCol="0" anchor="t"/>
          <a:lstStyle/>
          <a:p>
            <a:pPr marL="0" indent="0" algn="l">
              <a:lnSpc>
                <a:spcPts val="2350"/>
              </a:lnSpc>
              <a:buNone/>
              <a:defRPr/>
            </a:pPr>
            <a:r>
              <a:rPr lang="en-US" sz="1900">
                <a:solidFill>
                  <a:srgbClr val="E0D6DE"/>
                </a:solidFill>
                <a:latin typeface="Anton"/>
                <a:ea typeface="Anton"/>
                <a:cs typeface="Anton"/>
              </a:rPr>
              <a:t>Induced Voltage</a:t>
            </a:r>
            <a:endParaRPr lang="en-US" sz="1900"/>
          </a:p>
        </p:txBody>
      </p:sp>
      <p:sp>
        <p:nvSpPr>
          <p:cNvPr id="961525427" name="Text 5"/>
          <p:cNvSpPr/>
          <p:nvPr/>
        </p:nvSpPr>
        <p:spPr bwMode="auto">
          <a:xfrm>
            <a:off x="898327" y="4336494"/>
            <a:ext cx="3876794" cy="1734503"/>
          </a:xfrm>
          <a:prstGeom prst="rect">
            <a:avLst/>
          </a:prstGeom>
          <a:noFill/>
          <a:ln/>
        </p:spPr>
        <p:txBody>
          <a:bodyPr wrap="square" lIns="0" tIns="0" rIns="0" bIns="0" rtlCol="0" anchor="t"/>
          <a:lstStyle/>
          <a:p>
            <a:pPr marL="0" indent="0" algn="l">
              <a:lnSpc>
                <a:spcPts val="2250"/>
              </a:lnSpc>
              <a:buNone/>
              <a:defRPr/>
            </a:pPr>
            <a:r>
              <a:rPr lang="en-US" sz="1500">
                <a:solidFill>
                  <a:srgbClr val="E0D6DE"/>
                </a:solidFill>
                <a:latin typeface="Fira Sans"/>
                <a:ea typeface="Fira Sans"/>
                <a:cs typeface="Fira Sans"/>
              </a:rPr>
              <a:t>The changing magnetic flux (dΦ/dt) from the active data line, as predicted by Faraday's Law, induces a parasitic voltage pulse on the adjacent aggressor line. This pulse is directly proportional to the rate of change of the magnetic flux.</a:t>
            </a:r>
            <a:endParaRPr lang="en-US" sz="1500"/>
          </a:p>
        </p:txBody>
      </p:sp>
      <p:sp>
        <p:nvSpPr>
          <p:cNvPr id="1663865731" name="Shape 6"/>
          <p:cNvSpPr/>
          <p:nvPr/>
        </p:nvSpPr>
        <p:spPr bwMode="auto">
          <a:xfrm>
            <a:off x="5159335" y="3714988"/>
            <a:ext cx="4311610" cy="3151584"/>
          </a:xfrm>
          <a:prstGeom prst="roundRect">
            <a:avLst>
              <a:gd name="adj" fmla="val 926"/>
            </a:avLst>
          </a:prstGeom>
          <a:solidFill>
            <a:srgbClr val="1F1F1F"/>
          </a:solidFill>
          <a:ln w="22860">
            <a:solidFill>
              <a:srgbClr val="575757"/>
            </a:solidFill>
            <a:prstDash val="solid"/>
          </a:ln>
        </p:spPr>
      </p:sp>
      <p:sp>
        <p:nvSpPr>
          <p:cNvPr id="1417441717" name="Text 7"/>
          <p:cNvSpPr/>
          <p:nvPr/>
        </p:nvSpPr>
        <p:spPr bwMode="auto">
          <a:xfrm>
            <a:off x="5376743" y="3932396"/>
            <a:ext cx="2432209" cy="303967"/>
          </a:xfrm>
          <a:prstGeom prst="rect">
            <a:avLst/>
          </a:prstGeom>
          <a:noFill/>
          <a:ln/>
        </p:spPr>
        <p:txBody>
          <a:bodyPr wrap="none" lIns="0" tIns="0" rIns="0" bIns="0" rtlCol="0" anchor="t"/>
          <a:lstStyle/>
          <a:p>
            <a:pPr marL="0" indent="0" algn="l">
              <a:lnSpc>
                <a:spcPts val="2350"/>
              </a:lnSpc>
              <a:buNone/>
              <a:defRPr/>
            </a:pPr>
            <a:r>
              <a:rPr lang="en-US" sz="1900">
                <a:solidFill>
                  <a:srgbClr val="E0D6DE"/>
                </a:solidFill>
                <a:latin typeface="Anton"/>
                <a:ea typeface="Anton"/>
                <a:cs typeface="Anton"/>
              </a:rPr>
              <a:t>Data Replication</a:t>
            </a:r>
            <a:endParaRPr lang="en-US" sz="1900"/>
          </a:p>
        </p:txBody>
      </p:sp>
      <p:sp>
        <p:nvSpPr>
          <p:cNvPr id="2049285369" name="Text 8"/>
          <p:cNvSpPr/>
          <p:nvPr/>
        </p:nvSpPr>
        <p:spPr bwMode="auto">
          <a:xfrm>
            <a:off x="5376743" y="4336494"/>
            <a:ext cx="3876794" cy="1734503"/>
          </a:xfrm>
          <a:prstGeom prst="rect">
            <a:avLst/>
          </a:prstGeom>
          <a:noFill/>
          <a:ln/>
        </p:spPr>
        <p:txBody>
          <a:bodyPr wrap="square" lIns="0" tIns="0" rIns="0" bIns="0" rtlCol="0" anchor="t"/>
          <a:lstStyle/>
          <a:p>
            <a:pPr marL="0" indent="0" algn="l">
              <a:lnSpc>
                <a:spcPts val="2250"/>
              </a:lnSpc>
              <a:buNone/>
              <a:defRPr/>
            </a:pPr>
            <a:r>
              <a:rPr lang="en-US" sz="1500">
                <a:solidFill>
                  <a:srgbClr val="E0D6DE"/>
                </a:solidFill>
                <a:latin typeface="Fira Sans"/>
                <a:ea typeface="Fira Sans"/>
                <a:cs typeface="Fira Sans"/>
              </a:rPr>
              <a:t>These induced voltage pulses faithfully mirror the timing and polarity of the original digital transitions. This effectively replicates the binary data onto a nearby line that should ideally be silent or carrying unrelated, non-sensitive information.</a:t>
            </a:r>
            <a:endParaRPr lang="en-US" sz="1500"/>
          </a:p>
        </p:txBody>
      </p:sp>
      <p:sp>
        <p:nvSpPr>
          <p:cNvPr id="1825277809" name="Shape 9"/>
          <p:cNvSpPr/>
          <p:nvPr/>
        </p:nvSpPr>
        <p:spPr bwMode="auto">
          <a:xfrm>
            <a:off x="9637752" y="3714988"/>
            <a:ext cx="4311729" cy="3151584"/>
          </a:xfrm>
          <a:prstGeom prst="roundRect">
            <a:avLst>
              <a:gd name="adj" fmla="val 926"/>
            </a:avLst>
          </a:prstGeom>
          <a:solidFill>
            <a:srgbClr val="1F1F1F"/>
          </a:solidFill>
          <a:ln w="22860">
            <a:solidFill>
              <a:srgbClr val="575757"/>
            </a:solidFill>
            <a:prstDash val="solid"/>
          </a:ln>
        </p:spPr>
      </p:sp>
      <p:sp>
        <p:nvSpPr>
          <p:cNvPr id="1072763169" name="Text 10"/>
          <p:cNvSpPr/>
          <p:nvPr/>
        </p:nvSpPr>
        <p:spPr bwMode="auto">
          <a:xfrm>
            <a:off x="9855160" y="3932396"/>
            <a:ext cx="2432209" cy="303967"/>
          </a:xfrm>
          <a:prstGeom prst="rect">
            <a:avLst/>
          </a:prstGeom>
          <a:noFill/>
          <a:ln/>
        </p:spPr>
        <p:txBody>
          <a:bodyPr wrap="none" lIns="0" tIns="0" rIns="0" bIns="0" rtlCol="0" anchor="t"/>
          <a:lstStyle/>
          <a:p>
            <a:pPr marL="0" indent="0" algn="l">
              <a:lnSpc>
                <a:spcPts val="2350"/>
              </a:lnSpc>
              <a:buNone/>
              <a:defRPr/>
            </a:pPr>
            <a:r>
              <a:rPr lang="en-US" sz="1900">
                <a:solidFill>
                  <a:srgbClr val="E0D6DE"/>
                </a:solidFill>
                <a:latin typeface="Anton"/>
                <a:ea typeface="Anton"/>
                <a:cs typeface="Anton"/>
              </a:rPr>
              <a:t>Stealthy Eavesdropping</a:t>
            </a:r>
            <a:endParaRPr lang="en-US" sz="1900"/>
          </a:p>
        </p:txBody>
      </p:sp>
      <p:sp>
        <p:nvSpPr>
          <p:cNvPr id="1847380713" name="Text 11"/>
          <p:cNvSpPr/>
          <p:nvPr/>
        </p:nvSpPr>
        <p:spPr bwMode="auto">
          <a:xfrm>
            <a:off x="9855160" y="4336494"/>
            <a:ext cx="3876913" cy="2312670"/>
          </a:xfrm>
          <a:prstGeom prst="rect">
            <a:avLst/>
          </a:prstGeom>
          <a:noFill/>
          <a:ln/>
        </p:spPr>
        <p:txBody>
          <a:bodyPr wrap="square" lIns="0" tIns="0" rIns="0" bIns="0" rtlCol="0" anchor="t"/>
          <a:lstStyle/>
          <a:p>
            <a:pPr marL="0" indent="0" algn="l">
              <a:lnSpc>
                <a:spcPts val="2250"/>
              </a:lnSpc>
              <a:buNone/>
              <a:defRPr/>
            </a:pPr>
            <a:r>
              <a:rPr lang="en-US" sz="1500">
                <a:solidFill>
                  <a:srgbClr val="E0D6DE"/>
                </a:solidFill>
                <a:latin typeface="Fira Sans"/>
                <a:ea typeface="Fira Sans"/>
                <a:cs typeface="Fira Sans"/>
              </a:rPr>
              <a:t>This electromagnetic phenomenon facilitates non-invasive eavesdropping. Attackers do not require direct electrical contact; mere physical proximity between the data line and their sensing equipment is often sufficient to passively "listen" to the electromagnetic emanations and reconstruct the digital signal.</a:t>
            </a:r>
            <a:endParaRPr lang="en-US" sz="1500"/>
          </a:p>
        </p:txBody>
      </p:sp>
      <p:pic>
        <p:nvPicPr>
          <p:cNvPr id="1869873491" name="Picture 13"/>
          <p:cNvPicPr>
            <a:picLocks noChangeAspect="1"/>
          </p:cNvPicPr>
          <p:nvPr/>
        </p:nvPicPr>
        <p:blipFill rotWithShape="1">
          <a:blip r:embed="rId3"/>
          <a:stretch/>
        </p:blipFill>
        <p:spPr bwMode="auto">
          <a:xfrm>
            <a:off x="12268200" y="7429500"/>
            <a:ext cx="2362199" cy="8001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4662095" name="Text 0"/>
          <p:cNvSpPr/>
          <p:nvPr/>
        </p:nvSpPr>
        <p:spPr bwMode="auto">
          <a:xfrm>
            <a:off x="273961" y="786527"/>
            <a:ext cx="5110639" cy="512088"/>
          </a:xfrm>
          <a:prstGeom prst="rect">
            <a:avLst/>
          </a:prstGeom>
          <a:noFill/>
          <a:ln/>
        </p:spPr>
        <p:txBody>
          <a:bodyPr wrap="none" lIns="0" tIns="0" rIns="0" bIns="0" rtlCol="0" anchor="t"/>
          <a:lstStyle/>
          <a:p>
            <a:pPr marL="0" indent="0" algn="l">
              <a:lnSpc>
                <a:spcPts val="4000"/>
              </a:lnSpc>
              <a:buNone/>
              <a:defRPr/>
            </a:pPr>
            <a:r>
              <a:rPr lang="en-US" sz="3200">
                <a:solidFill>
                  <a:srgbClr val="FA95AF"/>
                </a:solidFill>
                <a:latin typeface="Anton"/>
                <a:ea typeface="Anton"/>
                <a:cs typeface="Anton"/>
              </a:rPr>
              <a:t>The Math Behind </a:t>
            </a:r>
            <a:r>
              <a:rPr lang="en-US" sz="3200">
                <a:solidFill>
                  <a:srgbClr val="FA95AF"/>
                </a:solidFill>
                <a:latin typeface="Anton"/>
                <a:ea typeface="Anton"/>
                <a:cs typeface="Anton"/>
              </a:rPr>
              <a:t>Leakage:</a:t>
            </a:r>
            <a:endParaRPr lang="en-US" sz="3200"/>
          </a:p>
        </p:txBody>
      </p:sp>
      <p:sp>
        <p:nvSpPr>
          <p:cNvPr id="222784319" name="Text 1"/>
          <p:cNvSpPr/>
          <p:nvPr/>
        </p:nvSpPr>
        <p:spPr bwMode="auto">
          <a:xfrm>
            <a:off x="273962" y="1576030"/>
            <a:ext cx="13196649" cy="623411"/>
          </a:xfrm>
          <a:prstGeom prst="rect">
            <a:avLst/>
          </a:prstGeom>
          <a:noFill/>
          <a:ln/>
        </p:spPr>
        <p:txBody>
          <a:bodyPr wrap="square" lIns="0" tIns="0" rIns="0" bIns="0" rtlCol="0" anchor="t"/>
          <a:lstStyle/>
          <a:p>
            <a:pPr marL="0" indent="0" algn="l">
              <a:lnSpc>
                <a:spcPts val="2450"/>
              </a:lnSpc>
              <a:buNone/>
              <a:defRPr/>
            </a:pPr>
            <a:r>
              <a:rPr lang="en-US" sz="1600">
                <a:solidFill>
                  <a:srgbClr val="E0D6DE"/>
                </a:solidFill>
                <a:latin typeface="Fira Sans"/>
                <a:ea typeface="Fira Sans"/>
                <a:cs typeface="Fira Sans"/>
              </a:rPr>
              <a:t>The induced voltage, the very essence of information leakage, is dictated by a critical confluence of factors. This combined leakage equation encapsulates how the change in current in one cable creates a measurable voltage in an adjacent, unshielded conductor:</a:t>
            </a:r>
            <a:endParaRPr lang="en-US" sz="1600"/>
          </a:p>
        </p:txBody>
      </p:sp>
      <p:sp>
        <p:nvSpPr>
          <p:cNvPr id="2128938650" name="Text 2"/>
          <p:cNvSpPr/>
          <p:nvPr/>
        </p:nvSpPr>
        <p:spPr bwMode="auto">
          <a:xfrm>
            <a:off x="273962" y="2433518"/>
            <a:ext cx="13196649" cy="589121"/>
          </a:xfrm>
          <a:prstGeom prst="rect">
            <a:avLst/>
          </a:prstGeom>
          <a:noFill/>
          <a:ln/>
        </p:spPr>
        <p:txBody>
          <a:bodyPr wrap="square" lIns="0" tIns="0" rIns="0" bIns="0" rtlCol="0" anchor="t"/>
          <a:lstStyle/>
          <a:p>
            <a:pPr marL="0" indent="0" algn="l">
              <a:lnSpc>
                <a:spcPts val="2750"/>
              </a:lnSpc>
              <a:buNone/>
              <a:defRPr/>
            </a:pPr>
            <a:endParaRPr lang="en-US" sz="1800"/>
          </a:p>
        </p:txBody>
      </p:sp>
      <p:pic>
        <p:nvPicPr>
          <p:cNvPr id="1232608694" name="Image 0" descr="preencoded.png"/>
          <p:cNvPicPr>
            <a:picLocks noChangeAspect="1"/>
          </p:cNvPicPr>
          <p:nvPr/>
        </p:nvPicPr>
        <p:blipFill rotWithShape="1">
          <a:blip r:embed="rId3"/>
          <a:stretch/>
        </p:blipFill>
        <p:spPr bwMode="auto">
          <a:xfrm>
            <a:off x="273962" y="2433518"/>
            <a:ext cx="13196649" cy="589121"/>
          </a:xfrm>
          <a:prstGeom prst="rect">
            <a:avLst/>
          </a:prstGeom>
        </p:spPr>
      </p:pic>
      <p:sp>
        <p:nvSpPr>
          <p:cNvPr id="1999459613" name="Text 3"/>
          <p:cNvSpPr/>
          <p:nvPr/>
        </p:nvSpPr>
        <p:spPr bwMode="auto">
          <a:xfrm>
            <a:off x="273962" y="3256716"/>
            <a:ext cx="13196649" cy="623411"/>
          </a:xfrm>
          <a:prstGeom prst="rect">
            <a:avLst/>
          </a:prstGeom>
          <a:noFill/>
          <a:ln/>
        </p:spPr>
        <p:txBody>
          <a:bodyPr wrap="square" lIns="0" tIns="0" rIns="0" bIns="0" rtlCol="0" anchor="t"/>
          <a:lstStyle/>
          <a:p>
            <a:pPr marL="0" indent="0" algn="l">
              <a:lnSpc>
                <a:spcPts val="2450"/>
              </a:lnSpc>
              <a:buNone/>
              <a:defRPr/>
            </a:pPr>
            <a:r>
              <a:rPr lang="en-US" sz="1600">
                <a:solidFill>
                  <a:srgbClr val="E0D6DE"/>
                </a:solidFill>
                <a:latin typeface="Fira Sans"/>
                <a:ea typeface="Fira Sans"/>
                <a:cs typeface="Fira Sans"/>
              </a:rPr>
              <a:t>This elegant equation reveals the direct and inverse relationships that govern the susceptibility to crosstalk. Understanding each variable is paramount for effective mitigation.</a:t>
            </a:r>
            <a:endParaRPr lang="en-US" sz="1600"/>
          </a:p>
        </p:txBody>
      </p:sp>
      <p:sp>
        <p:nvSpPr>
          <p:cNvPr id="2016108553" name="Shape 4"/>
          <p:cNvSpPr/>
          <p:nvPr/>
        </p:nvSpPr>
        <p:spPr bwMode="auto">
          <a:xfrm>
            <a:off x="273962" y="4088130"/>
            <a:ext cx="4275534" cy="2886670"/>
          </a:xfrm>
          <a:prstGeom prst="roundRect">
            <a:avLst>
              <a:gd name="adj" fmla="val 1064"/>
            </a:avLst>
          </a:prstGeom>
          <a:solidFill>
            <a:srgbClr val="3E3E3E"/>
          </a:solidFill>
          <a:ln/>
        </p:spPr>
      </p:sp>
      <p:sp>
        <p:nvSpPr>
          <p:cNvPr id="896720919" name="Shape 5"/>
          <p:cNvSpPr/>
          <p:nvPr/>
        </p:nvSpPr>
        <p:spPr bwMode="auto">
          <a:xfrm>
            <a:off x="478750" y="4292917"/>
            <a:ext cx="614482" cy="614482"/>
          </a:xfrm>
          <a:prstGeom prst="roundRect">
            <a:avLst>
              <a:gd name="adj" fmla="val 14879338"/>
            </a:avLst>
          </a:prstGeom>
          <a:solidFill>
            <a:srgbClr val="FA95AE"/>
          </a:solidFill>
          <a:ln/>
        </p:spPr>
      </p:sp>
      <p:sp>
        <p:nvSpPr>
          <p:cNvPr id="558180981" name="Text 6"/>
          <p:cNvSpPr/>
          <p:nvPr/>
        </p:nvSpPr>
        <p:spPr bwMode="auto">
          <a:xfrm>
            <a:off x="647700" y="4427339"/>
            <a:ext cx="276463" cy="345638"/>
          </a:xfrm>
          <a:prstGeom prst="rect">
            <a:avLst/>
          </a:prstGeom>
          <a:noFill/>
          <a:ln/>
        </p:spPr>
        <p:txBody>
          <a:bodyPr wrap="none" lIns="0" tIns="0" rIns="0" bIns="0" rtlCol="0" anchor="t"/>
          <a:lstStyle/>
          <a:p>
            <a:pPr marL="0" indent="0" algn="l">
              <a:lnSpc>
                <a:spcPts val="3300"/>
              </a:lnSpc>
              <a:buNone/>
              <a:defRPr/>
            </a:pPr>
            <a:r>
              <a:rPr lang="en-US" sz="2150">
                <a:solidFill>
                  <a:srgbClr val="000000"/>
                </a:solidFill>
                <a:latin typeface="Anton"/>
                <a:ea typeface="Anton"/>
                <a:cs typeface="Anton"/>
              </a:rPr>
              <a:t>1</a:t>
            </a:r>
            <a:endParaRPr lang="en-US" sz="2150"/>
          </a:p>
        </p:txBody>
      </p:sp>
      <p:sp>
        <p:nvSpPr>
          <p:cNvPr id="1213420541" name="Text 7"/>
          <p:cNvSpPr/>
          <p:nvPr/>
        </p:nvSpPr>
        <p:spPr bwMode="auto">
          <a:xfrm>
            <a:off x="478750" y="5092303"/>
            <a:ext cx="2560320" cy="319921"/>
          </a:xfrm>
          <a:prstGeom prst="rect">
            <a:avLst/>
          </a:prstGeom>
          <a:noFill/>
          <a:ln/>
        </p:spPr>
        <p:txBody>
          <a:bodyPr wrap="none" lIns="0" tIns="0" rIns="0" bIns="0" rtlCol="0" anchor="t"/>
          <a:lstStyle/>
          <a:p>
            <a:pPr marL="0" indent="0" algn="l">
              <a:lnSpc>
                <a:spcPts val="2500"/>
              </a:lnSpc>
              <a:buNone/>
              <a:defRPr/>
            </a:pPr>
            <a:r>
              <a:rPr lang="en-US" sz="2000">
                <a:solidFill>
                  <a:srgbClr val="E0D6DE"/>
                </a:solidFill>
                <a:latin typeface="Anton"/>
                <a:ea typeface="Anton"/>
                <a:cs typeface="Anton"/>
              </a:rPr>
              <a:t>dI/dt: Signal Speed</a:t>
            </a:r>
            <a:endParaRPr lang="en-US" sz="2000"/>
          </a:p>
        </p:txBody>
      </p:sp>
      <p:sp>
        <p:nvSpPr>
          <p:cNvPr id="657983623" name="Text 8"/>
          <p:cNvSpPr/>
          <p:nvPr/>
        </p:nvSpPr>
        <p:spPr bwMode="auto">
          <a:xfrm>
            <a:off x="478750" y="5523190"/>
            <a:ext cx="3865959" cy="1246823"/>
          </a:xfrm>
          <a:prstGeom prst="rect">
            <a:avLst/>
          </a:prstGeom>
          <a:noFill/>
          <a:ln/>
        </p:spPr>
        <p:txBody>
          <a:bodyPr wrap="square" lIns="0" tIns="0" rIns="0" bIns="0" rtlCol="0" anchor="t"/>
          <a:lstStyle/>
          <a:p>
            <a:pPr marL="0" indent="0" algn="l">
              <a:lnSpc>
                <a:spcPts val="2450"/>
              </a:lnSpc>
              <a:buNone/>
              <a:defRPr/>
            </a:pPr>
            <a:r>
              <a:rPr lang="en-US" sz="1600">
                <a:solidFill>
                  <a:srgbClr val="E0D6DE"/>
                </a:solidFill>
                <a:latin typeface="Fira Sans"/>
                <a:ea typeface="Fira Sans"/>
                <a:cs typeface="Fira Sans"/>
              </a:rPr>
              <a:t>The faster the </a:t>
            </a:r>
            <a:r>
              <a:rPr lang="en-US" sz="1600" b="1">
                <a:solidFill>
                  <a:srgbClr val="E0D6DE"/>
                </a:solidFill>
                <a:latin typeface="Fira Sans"/>
                <a:ea typeface="Fira Sans"/>
                <a:cs typeface="Fira Sans"/>
              </a:rPr>
              <a:t>rate of change of current</a:t>
            </a:r>
            <a:r>
              <a:rPr lang="en-US" sz="1600">
                <a:solidFill>
                  <a:srgbClr val="E0D6DE"/>
                </a:solidFill>
                <a:latin typeface="Fira Sans"/>
                <a:ea typeface="Fira Sans"/>
                <a:cs typeface="Fira Sans"/>
              </a:rPr>
              <a:t>, the stronger the induced voltage. High-frequency digital signals with sharp edges are inherently riskier.</a:t>
            </a:r>
            <a:endParaRPr lang="en-US" sz="1600"/>
          </a:p>
        </p:txBody>
      </p:sp>
      <p:sp>
        <p:nvSpPr>
          <p:cNvPr id="1961519801" name="Shape 9"/>
          <p:cNvSpPr/>
          <p:nvPr/>
        </p:nvSpPr>
        <p:spPr bwMode="auto">
          <a:xfrm>
            <a:off x="4734401" y="4088130"/>
            <a:ext cx="4275653" cy="2886670"/>
          </a:xfrm>
          <a:prstGeom prst="roundRect">
            <a:avLst>
              <a:gd name="adj" fmla="val 1064"/>
            </a:avLst>
          </a:prstGeom>
          <a:solidFill>
            <a:srgbClr val="3E3E3E"/>
          </a:solidFill>
          <a:ln/>
        </p:spPr>
      </p:sp>
      <p:sp>
        <p:nvSpPr>
          <p:cNvPr id="2116953596" name="Shape 10"/>
          <p:cNvSpPr/>
          <p:nvPr/>
        </p:nvSpPr>
        <p:spPr bwMode="auto">
          <a:xfrm>
            <a:off x="4939188" y="4292917"/>
            <a:ext cx="614482" cy="614482"/>
          </a:xfrm>
          <a:prstGeom prst="roundRect">
            <a:avLst>
              <a:gd name="adj" fmla="val 14879338"/>
            </a:avLst>
          </a:prstGeom>
          <a:solidFill>
            <a:srgbClr val="FA95AE"/>
          </a:solidFill>
          <a:ln/>
        </p:spPr>
      </p:sp>
      <p:sp>
        <p:nvSpPr>
          <p:cNvPr id="312182451" name="Text 11"/>
          <p:cNvSpPr/>
          <p:nvPr/>
        </p:nvSpPr>
        <p:spPr bwMode="auto">
          <a:xfrm>
            <a:off x="5108138" y="4427339"/>
            <a:ext cx="276463" cy="345638"/>
          </a:xfrm>
          <a:prstGeom prst="rect">
            <a:avLst/>
          </a:prstGeom>
          <a:noFill/>
          <a:ln/>
        </p:spPr>
        <p:txBody>
          <a:bodyPr wrap="none" lIns="0" tIns="0" rIns="0" bIns="0" rtlCol="0" anchor="t"/>
          <a:lstStyle/>
          <a:p>
            <a:pPr marL="0" indent="0" algn="l">
              <a:lnSpc>
                <a:spcPts val="3300"/>
              </a:lnSpc>
              <a:buNone/>
              <a:defRPr/>
            </a:pPr>
            <a:r>
              <a:rPr lang="en-US" sz="2150">
                <a:solidFill>
                  <a:srgbClr val="000000"/>
                </a:solidFill>
                <a:latin typeface="Anton"/>
                <a:ea typeface="Anton"/>
                <a:cs typeface="Anton"/>
              </a:rPr>
              <a:t>2</a:t>
            </a:r>
            <a:endParaRPr lang="en-US" sz="2150"/>
          </a:p>
        </p:txBody>
      </p:sp>
      <p:sp>
        <p:nvSpPr>
          <p:cNvPr id="1671404094" name="Text 12"/>
          <p:cNvSpPr/>
          <p:nvPr/>
        </p:nvSpPr>
        <p:spPr bwMode="auto">
          <a:xfrm>
            <a:off x="4939188" y="5092303"/>
            <a:ext cx="2560320" cy="319921"/>
          </a:xfrm>
          <a:prstGeom prst="rect">
            <a:avLst/>
          </a:prstGeom>
          <a:noFill/>
          <a:ln/>
        </p:spPr>
        <p:txBody>
          <a:bodyPr wrap="none" lIns="0" tIns="0" rIns="0" bIns="0" rtlCol="0" anchor="t"/>
          <a:lstStyle/>
          <a:p>
            <a:pPr marL="0" indent="0" algn="l">
              <a:lnSpc>
                <a:spcPts val="2500"/>
              </a:lnSpc>
              <a:buNone/>
              <a:defRPr/>
            </a:pPr>
            <a:r>
              <a:rPr lang="en-US" sz="2000">
                <a:solidFill>
                  <a:srgbClr val="E0D6DE"/>
                </a:solidFill>
                <a:latin typeface="Anton"/>
                <a:ea typeface="Anton"/>
                <a:cs typeface="Anton"/>
              </a:rPr>
              <a:t>r: Distance</a:t>
            </a:r>
            <a:endParaRPr lang="en-US" sz="2000"/>
          </a:p>
        </p:txBody>
      </p:sp>
      <p:sp>
        <p:nvSpPr>
          <p:cNvPr id="2074200874" name="Text 13"/>
          <p:cNvSpPr/>
          <p:nvPr/>
        </p:nvSpPr>
        <p:spPr bwMode="auto">
          <a:xfrm>
            <a:off x="4939188" y="5523190"/>
            <a:ext cx="3866078" cy="1246823"/>
          </a:xfrm>
          <a:prstGeom prst="rect">
            <a:avLst/>
          </a:prstGeom>
          <a:noFill/>
          <a:ln/>
        </p:spPr>
        <p:txBody>
          <a:bodyPr wrap="square" lIns="0" tIns="0" rIns="0" bIns="0" rtlCol="0" anchor="t"/>
          <a:lstStyle/>
          <a:p>
            <a:pPr marL="0" indent="0" algn="l">
              <a:lnSpc>
                <a:spcPts val="2450"/>
              </a:lnSpc>
              <a:buNone/>
              <a:defRPr/>
            </a:pPr>
            <a:r>
              <a:rPr lang="en-US" sz="1600">
                <a:solidFill>
                  <a:srgbClr val="E0D6DE"/>
                </a:solidFill>
                <a:latin typeface="Fira Sans"/>
                <a:ea typeface="Fira Sans"/>
                <a:cs typeface="Fira Sans"/>
              </a:rPr>
              <a:t>The induced voltage is </a:t>
            </a:r>
            <a:r>
              <a:rPr lang="en-US" sz="1600" b="1">
                <a:solidFill>
                  <a:srgbClr val="E0D6DE"/>
                </a:solidFill>
                <a:latin typeface="Fira Sans"/>
                <a:ea typeface="Fira Sans"/>
                <a:cs typeface="Fira Sans"/>
              </a:rPr>
              <a:t>inversely proportional</a:t>
            </a:r>
            <a:r>
              <a:rPr lang="en-US" sz="1600">
                <a:solidFill>
                  <a:srgbClr val="E0D6DE"/>
                </a:solidFill>
                <a:latin typeface="Fira Sans"/>
                <a:ea typeface="Fira Sans"/>
                <a:cs typeface="Fira Sans"/>
              </a:rPr>
              <a:t> to the distance between the source and victim cables. Closer proximity significantly amplifies leakage.</a:t>
            </a:r>
            <a:endParaRPr lang="en-US" sz="1600"/>
          </a:p>
        </p:txBody>
      </p:sp>
      <p:sp>
        <p:nvSpPr>
          <p:cNvPr id="1279654739" name="Shape 14"/>
          <p:cNvSpPr/>
          <p:nvPr/>
        </p:nvSpPr>
        <p:spPr bwMode="auto">
          <a:xfrm>
            <a:off x="9194958" y="4088130"/>
            <a:ext cx="4275534" cy="2886670"/>
          </a:xfrm>
          <a:prstGeom prst="roundRect">
            <a:avLst>
              <a:gd name="adj" fmla="val 1064"/>
            </a:avLst>
          </a:prstGeom>
          <a:solidFill>
            <a:srgbClr val="3E3E3E"/>
          </a:solidFill>
          <a:ln/>
        </p:spPr>
      </p:sp>
      <p:sp>
        <p:nvSpPr>
          <p:cNvPr id="1946229031" name="Shape 15"/>
          <p:cNvSpPr/>
          <p:nvPr/>
        </p:nvSpPr>
        <p:spPr bwMode="auto">
          <a:xfrm>
            <a:off x="9399746" y="4292917"/>
            <a:ext cx="614482" cy="614482"/>
          </a:xfrm>
          <a:prstGeom prst="roundRect">
            <a:avLst>
              <a:gd name="adj" fmla="val 14879338"/>
            </a:avLst>
          </a:prstGeom>
          <a:solidFill>
            <a:srgbClr val="FA95AE"/>
          </a:solidFill>
          <a:ln/>
        </p:spPr>
      </p:sp>
      <p:sp>
        <p:nvSpPr>
          <p:cNvPr id="1646656259" name="Text 16"/>
          <p:cNvSpPr/>
          <p:nvPr/>
        </p:nvSpPr>
        <p:spPr bwMode="auto">
          <a:xfrm>
            <a:off x="9568695" y="4427339"/>
            <a:ext cx="276463" cy="345638"/>
          </a:xfrm>
          <a:prstGeom prst="rect">
            <a:avLst/>
          </a:prstGeom>
          <a:noFill/>
          <a:ln/>
        </p:spPr>
        <p:txBody>
          <a:bodyPr wrap="none" lIns="0" tIns="0" rIns="0" bIns="0" rtlCol="0" anchor="t"/>
          <a:lstStyle/>
          <a:p>
            <a:pPr marL="0" indent="0" algn="l">
              <a:lnSpc>
                <a:spcPts val="3300"/>
              </a:lnSpc>
              <a:buNone/>
              <a:defRPr/>
            </a:pPr>
            <a:r>
              <a:rPr lang="en-US" sz="2150">
                <a:solidFill>
                  <a:srgbClr val="000000"/>
                </a:solidFill>
                <a:latin typeface="Anton"/>
                <a:ea typeface="Anton"/>
                <a:cs typeface="Anton"/>
              </a:rPr>
              <a:t>3</a:t>
            </a:r>
            <a:endParaRPr lang="en-US" sz="2150"/>
          </a:p>
        </p:txBody>
      </p:sp>
      <p:sp>
        <p:nvSpPr>
          <p:cNvPr id="177082080" name="Text 17"/>
          <p:cNvSpPr/>
          <p:nvPr/>
        </p:nvSpPr>
        <p:spPr bwMode="auto">
          <a:xfrm>
            <a:off x="9399746" y="5092303"/>
            <a:ext cx="2577108" cy="319921"/>
          </a:xfrm>
          <a:prstGeom prst="rect">
            <a:avLst/>
          </a:prstGeom>
          <a:noFill/>
          <a:ln/>
        </p:spPr>
        <p:txBody>
          <a:bodyPr wrap="none" lIns="0" tIns="0" rIns="0" bIns="0" rtlCol="0" anchor="t"/>
          <a:lstStyle/>
          <a:p>
            <a:pPr marL="0" indent="0" algn="l">
              <a:lnSpc>
                <a:spcPts val="2500"/>
              </a:lnSpc>
              <a:buNone/>
              <a:defRPr/>
            </a:pPr>
            <a:r>
              <a:rPr lang="en-US" sz="2000">
                <a:solidFill>
                  <a:srgbClr val="E0D6DE"/>
                </a:solidFill>
                <a:latin typeface="Anton"/>
                <a:ea typeface="Anton"/>
                <a:cs typeface="Anton"/>
              </a:rPr>
              <a:t>A ⋅ cos(θ): Coupling Area</a:t>
            </a:r>
            <a:endParaRPr lang="en-US" sz="2000"/>
          </a:p>
        </p:txBody>
      </p:sp>
      <p:sp>
        <p:nvSpPr>
          <p:cNvPr id="1703393767" name="Text 18"/>
          <p:cNvSpPr/>
          <p:nvPr/>
        </p:nvSpPr>
        <p:spPr bwMode="auto">
          <a:xfrm>
            <a:off x="9399746" y="5523190"/>
            <a:ext cx="3865959" cy="1246823"/>
          </a:xfrm>
          <a:prstGeom prst="rect">
            <a:avLst/>
          </a:prstGeom>
          <a:noFill/>
          <a:ln/>
        </p:spPr>
        <p:txBody>
          <a:bodyPr wrap="square" lIns="0" tIns="0" rIns="0" bIns="0" rtlCol="0" anchor="t"/>
          <a:lstStyle/>
          <a:p>
            <a:pPr marL="0" indent="0" algn="l">
              <a:lnSpc>
                <a:spcPts val="2450"/>
              </a:lnSpc>
              <a:buNone/>
              <a:defRPr/>
            </a:pPr>
            <a:r>
              <a:rPr lang="en-US" sz="1600">
                <a:solidFill>
                  <a:srgbClr val="E0D6DE"/>
                </a:solidFill>
                <a:latin typeface="Fira Sans"/>
                <a:ea typeface="Fira Sans"/>
                <a:cs typeface="Fira Sans"/>
              </a:rPr>
              <a:t>This term accounts for the </a:t>
            </a:r>
            <a:r>
              <a:rPr lang="en-US" sz="1600" b="1">
                <a:solidFill>
                  <a:srgbClr val="E0D6DE"/>
                </a:solidFill>
                <a:latin typeface="Fira Sans"/>
                <a:ea typeface="Fira Sans"/>
                <a:cs typeface="Fira Sans"/>
              </a:rPr>
              <a:t>effective area and orientation</a:t>
            </a:r>
            <a:r>
              <a:rPr lang="en-US" sz="1600">
                <a:solidFill>
                  <a:srgbClr val="E0D6DE"/>
                </a:solidFill>
                <a:latin typeface="Fira Sans"/>
                <a:ea typeface="Fira Sans"/>
                <a:cs typeface="Fira Sans"/>
              </a:rPr>
              <a:t> of magnetic field lines passing through the victim's loop. Parallel routing maximises this coupling.</a:t>
            </a:r>
            <a:endParaRPr lang="en-US" sz="1600"/>
          </a:p>
        </p:txBody>
      </p:sp>
      <p:sp>
        <p:nvSpPr>
          <p:cNvPr id="715925135" name="Rectangle 21"/>
          <p:cNvSpPr/>
          <p:nvPr/>
        </p:nvSpPr>
        <p:spPr bwMode="auto">
          <a:xfrm>
            <a:off x="12279274" y="7429500"/>
            <a:ext cx="2364581" cy="800100"/>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spTree>
      <p:nvGrpSpPr>
        <p:cNvPr id="1" name=""/>
        <p:cNvGrpSpPr/>
        <p:nvPr/>
      </p:nvGrpSpPr>
      <p:grpSpPr bwMode="auto">
        <a:xfrm>
          <a:off x="0" y="0"/>
          <a:ext cx="0" cy="0"/>
          <a:chOff x="0" y="0"/>
          <a:chExt cx="0" cy="0"/>
        </a:xfrm>
      </p:grpSpPr>
      <p:pic>
        <p:nvPicPr>
          <p:cNvPr id="1993915551" name="Image 0"/>
          <p:cNvPicPr>
            <a:picLocks noChangeAspect="1"/>
          </p:cNvPicPr>
          <p:nvPr/>
        </p:nvPicPr>
        <p:blipFill rotWithShape="1">
          <a:blip r:embed="rId3"/>
          <a:stretch/>
        </p:blipFill>
        <p:spPr bwMode="auto">
          <a:xfrm>
            <a:off x="57150" y="1316712"/>
            <a:ext cx="5900738" cy="545556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17408604" name="Text 0"/>
          <p:cNvSpPr/>
          <p:nvPr/>
        </p:nvSpPr>
        <p:spPr bwMode="auto">
          <a:xfrm>
            <a:off x="6280190" y="1316712"/>
            <a:ext cx="7556421" cy="1133951"/>
          </a:xfrm>
          <a:prstGeom prst="rect">
            <a:avLst/>
          </a:prstGeom>
          <a:noFill/>
          <a:ln/>
        </p:spPr>
        <p:txBody>
          <a:bodyPr wrap="square" lIns="0" tIns="0" rIns="0" bIns="0" rtlCol="0" anchor="t"/>
          <a:lstStyle/>
          <a:p>
            <a:pPr marL="0" indent="0" algn="l">
              <a:lnSpc>
                <a:spcPts val="4450"/>
              </a:lnSpc>
              <a:buNone/>
              <a:defRPr/>
            </a:pPr>
            <a:r>
              <a:rPr lang="en-US" sz="3550">
                <a:solidFill>
                  <a:srgbClr val="FA95AF"/>
                </a:solidFill>
                <a:latin typeface="Anton"/>
                <a:ea typeface="Anton"/>
                <a:cs typeface="Anton"/>
              </a:rPr>
              <a:t>Real-World Examples &amp; Why It's Dangerous</a:t>
            </a:r>
            <a:endParaRPr lang="en-US" sz="3550"/>
          </a:p>
        </p:txBody>
      </p:sp>
      <p:sp>
        <p:nvSpPr>
          <p:cNvPr id="584461953" name="Text 1"/>
          <p:cNvSpPr/>
          <p:nvPr/>
        </p:nvSpPr>
        <p:spPr bwMode="auto">
          <a:xfrm>
            <a:off x="6280190" y="2790824"/>
            <a:ext cx="7556421" cy="725805"/>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Electromagnetic leakage is a proven attack vector with concrete precedents. It threatens confidentiality across hardware stacks:</a:t>
            </a:r>
            <a:endParaRPr lang="en-US" sz="1750"/>
          </a:p>
        </p:txBody>
      </p:sp>
      <p:sp>
        <p:nvSpPr>
          <p:cNvPr id="1738771359" name="Text 2"/>
          <p:cNvSpPr/>
          <p:nvPr/>
        </p:nvSpPr>
        <p:spPr bwMode="auto">
          <a:xfrm>
            <a:off x="6280190" y="3771781"/>
            <a:ext cx="7556421" cy="3141107"/>
          </a:xfrm>
          <a:prstGeom prst="rect">
            <a:avLst/>
          </a:prstGeom>
          <a:noFill/>
          <a:ln/>
        </p:spPr>
        <p:txBody>
          <a:bodyPr wrap="square" lIns="0" tIns="0" rIns="0" bIns="0" rtlCol="0" anchor="t"/>
          <a:lstStyle/>
          <a:p>
            <a:pPr marL="342900" indent="-342900" algn="l">
              <a:lnSpc>
                <a:spcPts val="2850"/>
              </a:lnSpc>
              <a:buSzPct val="100000"/>
              <a:buChar char="•"/>
              <a:defRPr/>
            </a:pPr>
            <a:r>
              <a:rPr lang="en-US" sz="1750">
                <a:solidFill>
                  <a:srgbClr val="E0D6DE"/>
                </a:solidFill>
                <a:latin typeface="Fira Sans"/>
                <a:ea typeface="Fira Sans"/>
                <a:cs typeface="Fira Sans"/>
              </a:rPr>
              <a:t>TEMPEST-style interceptions: remote recovery of display/keyboard signals.</a:t>
            </a:r>
            <a:endParaRPr lang="en-US" sz="1750"/>
          </a:p>
          <a:p>
            <a:pPr marL="342900" indent="-342900" algn="l">
              <a:lnSpc>
                <a:spcPts val="2850"/>
              </a:lnSpc>
              <a:buSzPct val="100000"/>
              <a:buChar char="•"/>
              <a:defRPr/>
            </a:pPr>
            <a:r>
              <a:rPr lang="en-US" sz="1750">
                <a:solidFill>
                  <a:srgbClr val="E0D6DE"/>
                </a:solidFill>
                <a:latin typeface="Fira Sans"/>
                <a:ea typeface="Fira Sans"/>
                <a:cs typeface="Fira Sans"/>
              </a:rPr>
              <a:t>PCB parallel traces and multi‑layer routing create tightly coupled paths.</a:t>
            </a:r>
            <a:endParaRPr lang="en-US" sz="1750"/>
          </a:p>
          <a:p>
            <a:pPr marL="342900" indent="-342900" algn="l">
              <a:lnSpc>
                <a:spcPts val="2850"/>
              </a:lnSpc>
              <a:buSzPct val="100000"/>
              <a:buChar char="•"/>
              <a:defRPr/>
            </a:pPr>
            <a:r>
              <a:rPr lang="en-US" sz="1750">
                <a:solidFill>
                  <a:srgbClr val="E0D6DE"/>
                </a:solidFill>
                <a:latin typeface="Fira Sans"/>
                <a:ea typeface="Fira Sans"/>
                <a:cs typeface="Fira Sans"/>
              </a:rPr>
              <a:t>Ribbon and server rack cables running side-by-side provide long coupling length ℓ.</a:t>
            </a:r>
            <a:endParaRPr lang="en-US" sz="1750"/>
          </a:p>
          <a:p>
            <a:pPr marL="342900" indent="-342900" algn="l">
              <a:lnSpc>
                <a:spcPts val="2850"/>
              </a:lnSpc>
              <a:buSzPct val="100000"/>
              <a:buChar char="•"/>
              <a:defRPr/>
            </a:pPr>
            <a:r>
              <a:rPr lang="en-US" sz="1750">
                <a:solidFill>
                  <a:srgbClr val="E0D6DE"/>
                </a:solidFill>
                <a:latin typeface="Fira Sans"/>
                <a:ea typeface="Fira Sans"/>
                <a:cs typeface="Fira Sans"/>
              </a:rPr>
              <a:t>Passive, forensics‑free capture makes mitigation largely architectural and physical.</a:t>
            </a:r>
            <a:endParaRPr lang="en-US" sz="1750"/>
          </a:p>
        </p:txBody>
      </p:sp>
      <p:sp>
        <p:nvSpPr>
          <p:cNvPr id="822674603" name="Rectangle 5"/>
          <p:cNvSpPr/>
          <p:nvPr/>
        </p:nvSpPr>
        <p:spPr bwMode="auto">
          <a:xfrm>
            <a:off x="12279274" y="7429500"/>
            <a:ext cx="2364581" cy="800100"/>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spTree>
      <p:nvGrpSpPr>
        <p:cNvPr id="1" name=""/>
        <p:cNvGrpSpPr/>
        <p:nvPr/>
      </p:nvGrpSpPr>
      <p:grpSpPr bwMode="auto">
        <a:xfrm>
          <a:off x="0" y="0"/>
          <a:ext cx="0" cy="0"/>
          <a:chOff x="0" y="0"/>
          <a:chExt cx="0" cy="0"/>
        </a:xfrm>
      </p:grpSpPr>
      <p:sp>
        <p:nvSpPr>
          <p:cNvPr id="786560893" name="Text 0"/>
          <p:cNvSpPr/>
          <p:nvPr/>
        </p:nvSpPr>
        <p:spPr bwMode="auto">
          <a:xfrm>
            <a:off x="793790" y="806291"/>
            <a:ext cx="7092077" cy="566976"/>
          </a:xfrm>
          <a:prstGeom prst="rect">
            <a:avLst/>
          </a:prstGeom>
          <a:noFill/>
          <a:ln/>
        </p:spPr>
        <p:txBody>
          <a:bodyPr wrap="none" lIns="0" tIns="0" rIns="0" bIns="0" rtlCol="0" anchor="t"/>
          <a:lstStyle/>
          <a:p>
            <a:pPr marL="0" indent="0" algn="l">
              <a:lnSpc>
                <a:spcPts val="4450"/>
              </a:lnSpc>
              <a:buNone/>
              <a:defRPr/>
            </a:pPr>
            <a:r>
              <a:rPr lang="en-US" sz="3550">
                <a:solidFill>
                  <a:srgbClr val="FA95AF"/>
                </a:solidFill>
                <a:latin typeface="Anton"/>
                <a:ea typeface="Anton"/>
                <a:cs typeface="Anton"/>
              </a:rPr>
              <a:t>Countermeasures — Practical Defenses</a:t>
            </a:r>
            <a:endParaRPr lang="en-US" sz="3550"/>
          </a:p>
        </p:txBody>
      </p:sp>
      <p:pic>
        <p:nvPicPr>
          <p:cNvPr id="1633431763" name="Image 0" descr="preencoded.png"/>
          <p:cNvPicPr>
            <a:picLocks noChangeAspect="1"/>
          </p:cNvPicPr>
          <p:nvPr/>
        </p:nvPicPr>
        <p:blipFill rotWithShape="1">
          <a:blip r:embed="rId3"/>
          <a:stretch/>
        </p:blipFill>
        <p:spPr bwMode="auto">
          <a:xfrm>
            <a:off x="266015" y="1968579"/>
            <a:ext cx="5033575" cy="5199579"/>
          </a:xfrm>
          <a:prstGeom prst="rect">
            <a:avLst/>
          </a:prstGeom>
        </p:spPr>
      </p:pic>
      <p:sp>
        <p:nvSpPr>
          <p:cNvPr id="472805391" name="Shape 1"/>
          <p:cNvSpPr/>
          <p:nvPr/>
        </p:nvSpPr>
        <p:spPr bwMode="auto">
          <a:xfrm>
            <a:off x="5559981" y="1968579"/>
            <a:ext cx="4028599" cy="2486382"/>
          </a:xfrm>
          <a:prstGeom prst="roundRect">
            <a:avLst>
              <a:gd name="adj" fmla="val 1368"/>
            </a:avLst>
          </a:prstGeom>
          <a:solidFill>
            <a:srgbClr val="3E3E3E"/>
          </a:solidFill>
          <a:ln/>
        </p:spPr>
      </p:sp>
      <p:sp>
        <p:nvSpPr>
          <p:cNvPr id="547240403" name="Text 2"/>
          <p:cNvSpPr/>
          <p:nvPr/>
        </p:nvSpPr>
        <p:spPr bwMode="auto">
          <a:xfrm>
            <a:off x="5786794" y="2195393"/>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Twisted pairs</a:t>
            </a:r>
            <a:endParaRPr lang="en-US" sz="2200"/>
          </a:p>
        </p:txBody>
      </p:sp>
      <p:sp>
        <p:nvSpPr>
          <p:cNvPr id="204453497" name="Text 3"/>
          <p:cNvSpPr/>
          <p:nvPr/>
        </p:nvSpPr>
        <p:spPr bwMode="auto">
          <a:xfrm>
            <a:off x="5786794" y="2776538"/>
            <a:ext cx="3574971" cy="1088708"/>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Opposing currents cancel loop area → dramatically reduces captured flux.</a:t>
            </a:r>
            <a:endParaRPr lang="en-US" sz="1750"/>
          </a:p>
        </p:txBody>
      </p:sp>
      <p:sp>
        <p:nvSpPr>
          <p:cNvPr id="1822735237" name="Shape 4"/>
          <p:cNvSpPr/>
          <p:nvPr/>
        </p:nvSpPr>
        <p:spPr bwMode="auto">
          <a:xfrm>
            <a:off x="9815393" y="1968579"/>
            <a:ext cx="4028718" cy="2486382"/>
          </a:xfrm>
          <a:prstGeom prst="roundRect">
            <a:avLst>
              <a:gd name="adj" fmla="val 1368"/>
            </a:avLst>
          </a:prstGeom>
          <a:solidFill>
            <a:srgbClr val="3E3E3E"/>
          </a:solidFill>
          <a:ln/>
        </p:spPr>
      </p:sp>
      <p:sp>
        <p:nvSpPr>
          <p:cNvPr id="349323967" name="Text 5"/>
          <p:cNvSpPr/>
          <p:nvPr/>
        </p:nvSpPr>
        <p:spPr bwMode="auto">
          <a:xfrm>
            <a:off x="10042208" y="2195393"/>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Shielding</a:t>
            </a:r>
            <a:endParaRPr lang="en-US" sz="2200"/>
          </a:p>
        </p:txBody>
      </p:sp>
      <p:sp>
        <p:nvSpPr>
          <p:cNvPr id="1200540160" name="Text 6"/>
          <p:cNvSpPr/>
          <p:nvPr/>
        </p:nvSpPr>
        <p:spPr bwMode="auto">
          <a:xfrm>
            <a:off x="10042208" y="2776538"/>
            <a:ext cx="3575090" cy="1451610"/>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Magnetic shields (mu-metal, high‑permeability layers) and grounded enclosures limit field escape; use where space permits.</a:t>
            </a:r>
            <a:endParaRPr lang="en-US" sz="1750"/>
          </a:p>
        </p:txBody>
      </p:sp>
      <p:sp>
        <p:nvSpPr>
          <p:cNvPr id="1189192921" name="Shape 7"/>
          <p:cNvSpPr/>
          <p:nvPr/>
        </p:nvSpPr>
        <p:spPr bwMode="auto">
          <a:xfrm>
            <a:off x="5559981" y="4681776"/>
            <a:ext cx="4028599" cy="2486382"/>
          </a:xfrm>
          <a:prstGeom prst="roundRect">
            <a:avLst>
              <a:gd name="adj" fmla="val 1368"/>
            </a:avLst>
          </a:prstGeom>
          <a:solidFill>
            <a:srgbClr val="3E3E3E"/>
          </a:solidFill>
          <a:ln/>
        </p:spPr>
      </p:sp>
      <p:sp>
        <p:nvSpPr>
          <p:cNvPr id="185349007" name="Text 8"/>
          <p:cNvSpPr/>
          <p:nvPr/>
        </p:nvSpPr>
        <p:spPr bwMode="auto">
          <a:xfrm>
            <a:off x="5786794" y="4908590"/>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Distance &amp; routing</a:t>
            </a:r>
            <a:endParaRPr lang="en-US" sz="2200"/>
          </a:p>
        </p:txBody>
      </p:sp>
      <p:sp>
        <p:nvSpPr>
          <p:cNvPr id="889869363" name="Text 9"/>
          <p:cNvSpPr/>
          <p:nvPr/>
        </p:nvSpPr>
        <p:spPr bwMode="auto">
          <a:xfrm>
            <a:off x="5786794" y="5489734"/>
            <a:ext cx="3574971" cy="1451610"/>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Separate sensitive and untrusted runs; minimize parallel routing length ℓ; use orthogonal crossings where feasible.</a:t>
            </a:r>
            <a:endParaRPr lang="en-US" sz="1750"/>
          </a:p>
        </p:txBody>
      </p:sp>
      <p:sp>
        <p:nvSpPr>
          <p:cNvPr id="247211864" name="Shape 10"/>
          <p:cNvSpPr/>
          <p:nvPr/>
        </p:nvSpPr>
        <p:spPr bwMode="auto">
          <a:xfrm>
            <a:off x="9815393" y="4681776"/>
            <a:ext cx="4028718" cy="2486382"/>
          </a:xfrm>
          <a:prstGeom prst="roundRect">
            <a:avLst>
              <a:gd name="adj" fmla="val 1368"/>
            </a:avLst>
          </a:prstGeom>
          <a:solidFill>
            <a:srgbClr val="3E3E3E"/>
          </a:solidFill>
          <a:ln/>
        </p:spPr>
      </p:sp>
      <p:sp>
        <p:nvSpPr>
          <p:cNvPr id="472418465" name="Text 11"/>
          <p:cNvSpPr/>
          <p:nvPr/>
        </p:nvSpPr>
        <p:spPr bwMode="auto">
          <a:xfrm>
            <a:off x="10042208" y="4908590"/>
            <a:ext cx="2835235"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Signal shaping</a:t>
            </a:r>
            <a:endParaRPr lang="en-US" sz="2200"/>
          </a:p>
        </p:txBody>
      </p:sp>
      <p:sp>
        <p:nvSpPr>
          <p:cNvPr id="1432035104" name="Text 12"/>
          <p:cNvSpPr/>
          <p:nvPr/>
        </p:nvSpPr>
        <p:spPr bwMode="auto">
          <a:xfrm>
            <a:off x="10042208" y="5489734"/>
            <a:ext cx="3575090" cy="1451610"/>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Controlled slew rates or intentionally randomized timing reduce the correlation between transitions and payload bits.</a:t>
            </a:r>
            <a:endParaRPr lang="en-US" sz="1750"/>
          </a:p>
        </p:txBody>
      </p:sp>
      <p:sp>
        <p:nvSpPr>
          <p:cNvPr id="684045949" name="Rectangle 15"/>
          <p:cNvSpPr/>
          <p:nvPr/>
        </p:nvSpPr>
        <p:spPr bwMode="auto">
          <a:xfrm>
            <a:off x="12265819" y="7429500"/>
            <a:ext cx="2364581" cy="800100"/>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6974501" name="Text 0"/>
          <p:cNvSpPr/>
          <p:nvPr/>
        </p:nvSpPr>
        <p:spPr bwMode="auto">
          <a:xfrm>
            <a:off x="793790" y="695682"/>
            <a:ext cx="4888349" cy="566976"/>
          </a:xfrm>
          <a:prstGeom prst="rect">
            <a:avLst/>
          </a:prstGeom>
          <a:noFill/>
          <a:ln/>
        </p:spPr>
        <p:txBody>
          <a:bodyPr wrap="none" lIns="0" tIns="0" rIns="0" bIns="0" rtlCol="0" anchor="t"/>
          <a:lstStyle/>
          <a:p>
            <a:pPr marL="0" indent="0" algn="l">
              <a:lnSpc>
                <a:spcPts val="4450"/>
              </a:lnSpc>
              <a:buNone/>
              <a:defRPr/>
            </a:pPr>
            <a:r>
              <a:rPr lang="en-US" sz="3550">
                <a:solidFill>
                  <a:srgbClr val="FA95AF"/>
                </a:solidFill>
                <a:latin typeface="Anton"/>
                <a:ea typeface="Anton"/>
                <a:cs typeface="Anton"/>
              </a:rPr>
              <a:t>Demo: The Pulse Waveform</a:t>
            </a:r>
            <a:endParaRPr lang="en-US" sz="3550"/>
          </a:p>
        </p:txBody>
      </p:sp>
      <p:sp>
        <p:nvSpPr>
          <p:cNvPr id="685992430" name="Text 1"/>
          <p:cNvSpPr/>
          <p:nvPr/>
        </p:nvSpPr>
        <p:spPr bwMode="auto">
          <a:xfrm>
            <a:off x="793790" y="1716286"/>
            <a:ext cx="13042821" cy="362903"/>
          </a:xfrm>
          <a:prstGeom prst="rect">
            <a:avLst/>
          </a:prstGeom>
          <a:noFill/>
          <a:ln/>
        </p:spPr>
        <p:txBody>
          <a:bodyPr wrap="none" lIns="0" tIns="0" rIns="0" bIns="0" rtlCol="0" anchor="t"/>
          <a:lstStyle/>
          <a:p>
            <a:pPr marL="0" indent="0" algn="l">
              <a:lnSpc>
                <a:spcPts val="2850"/>
              </a:lnSpc>
              <a:buNone/>
              <a:defRPr/>
            </a:pPr>
            <a:r>
              <a:rPr lang="en-US" sz="1750">
                <a:solidFill>
                  <a:srgbClr val="E0D6DE"/>
                </a:solidFill>
                <a:latin typeface="Fira Sans"/>
                <a:ea typeface="Fira Sans"/>
                <a:cs typeface="Fira Sans"/>
              </a:rPr>
              <a:t>A stacked waveform view clearly illustrates the induced leakage mechanism and how it can be exploited:</a:t>
            </a:r>
            <a:endParaRPr lang="en-US" sz="1750"/>
          </a:p>
        </p:txBody>
      </p:sp>
      <p:pic>
        <p:nvPicPr>
          <p:cNvPr id="1877400170" name="Image 0" descr="preencoded.png"/>
          <p:cNvPicPr>
            <a:picLocks noChangeAspect="1"/>
          </p:cNvPicPr>
          <p:nvPr/>
        </p:nvPicPr>
        <p:blipFill rotWithShape="1">
          <a:blip r:embed="rId3"/>
          <a:stretch/>
        </p:blipFill>
        <p:spPr bwMode="auto">
          <a:xfrm>
            <a:off x="793790" y="2334339"/>
            <a:ext cx="1205984" cy="745331"/>
          </a:xfrm>
          <a:prstGeom prst="rect">
            <a:avLst/>
          </a:prstGeom>
        </p:spPr>
      </p:pic>
      <p:sp>
        <p:nvSpPr>
          <p:cNvPr id="28190189" name="Text 2"/>
          <p:cNvSpPr/>
          <p:nvPr/>
        </p:nvSpPr>
        <p:spPr bwMode="auto">
          <a:xfrm>
            <a:off x="2283262" y="2334339"/>
            <a:ext cx="2669143"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Observation</a:t>
            </a:r>
            <a:endParaRPr lang="en-US" sz="2200"/>
          </a:p>
        </p:txBody>
      </p:sp>
      <p:sp>
        <p:nvSpPr>
          <p:cNvPr id="1187664573" name="Text 3"/>
          <p:cNvSpPr/>
          <p:nvPr/>
        </p:nvSpPr>
        <p:spPr bwMode="auto">
          <a:xfrm>
            <a:off x="2283262" y="2824758"/>
            <a:ext cx="2669143" cy="3991928"/>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Each rapid voltage transition (edge) in the source signal produces a time-aligned, transient voltage spike on a nearby conductor. The polarity of these induced spikes directly encodes the direction of the original bit transition (e.g., 0→1 or 1→0).</a:t>
            </a:r>
            <a:endParaRPr lang="en-US" sz="1750"/>
          </a:p>
        </p:txBody>
      </p:sp>
      <p:pic>
        <p:nvPicPr>
          <p:cNvPr id="1301904298" name="Image 1" descr="preencoded.png"/>
          <p:cNvPicPr>
            <a:picLocks noChangeAspect="1"/>
          </p:cNvPicPr>
          <p:nvPr/>
        </p:nvPicPr>
        <p:blipFill rotWithShape="1">
          <a:blip r:embed="rId4"/>
          <a:stretch/>
        </p:blipFill>
        <p:spPr bwMode="auto">
          <a:xfrm>
            <a:off x="5235893" y="2334339"/>
            <a:ext cx="1205984" cy="745331"/>
          </a:xfrm>
          <a:prstGeom prst="rect">
            <a:avLst/>
          </a:prstGeom>
        </p:spPr>
      </p:pic>
      <p:sp>
        <p:nvSpPr>
          <p:cNvPr id="2064580384" name="Text 4"/>
          <p:cNvSpPr/>
          <p:nvPr/>
        </p:nvSpPr>
        <p:spPr bwMode="auto">
          <a:xfrm>
            <a:off x="6725364" y="2334339"/>
            <a:ext cx="2669143" cy="708660"/>
          </a:xfrm>
          <a:prstGeom prst="rect">
            <a:avLst/>
          </a:prstGeom>
          <a:noFill/>
          <a:ln/>
        </p:spPr>
        <p:txBody>
          <a:bodyPr wrap="square" lIns="0" tIns="0" rIns="0" bIns="0" rtlCol="0" anchor="t"/>
          <a:lstStyle/>
          <a:p>
            <a:pPr marL="0" indent="0" algn="l">
              <a:lnSpc>
                <a:spcPts val="2750"/>
              </a:lnSpc>
              <a:buNone/>
              <a:defRPr/>
            </a:pPr>
            <a:r>
              <a:rPr lang="en-US" sz="2200">
                <a:solidFill>
                  <a:srgbClr val="E0D6DE"/>
                </a:solidFill>
                <a:latin typeface="Anton"/>
                <a:ea typeface="Anton"/>
                <a:cs typeface="Anton"/>
              </a:rPr>
              <a:t>Forensic Reconstruction</a:t>
            </a:r>
            <a:endParaRPr lang="en-US" sz="2200"/>
          </a:p>
        </p:txBody>
      </p:sp>
      <p:sp>
        <p:nvSpPr>
          <p:cNvPr id="336192145" name="Text 5"/>
          <p:cNvSpPr/>
          <p:nvPr/>
        </p:nvSpPr>
        <p:spPr bwMode="auto">
          <a:xfrm>
            <a:off x="6725364" y="3179088"/>
            <a:ext cx="2669143" cy="4354830"/>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By precisely timestamping and identifying the polarity of each induced spike, an attacker can reconstruct the original binary bitstream. This allows for full recovery of data, framing, and even protocol timing without direct physical access to the target wire.</a:t>
            </a:r>
            <a:endParaRPr lang="en-US" sz="1750"/>
          </a:p>
        </p:txBody>
      </p:sp>
      <p:sp>
        <p:nvSpPr>
          <p:cNvPr id="2140643180" name="Text 6"/>
          <p:cNvSpPr/>
          <p:nvPr/>
        </p:nvSpPr>
        <p:spPr bwMode="auto">
          <a:xfrm>
            <a:off x="11167467" y="2334339"/>
            <a:ext cx="2669143" cy="354330"/>
          </a:xfrm>
          <a:prstGeom prst="rect">
            <a:avLst/>
          </a:prstGeom>
          <a:noFill/>
          <a:ln/>
        </p:spPr>
        <p:txBody>
          <a:bodyPr wrap="none" lIns="0" tIns="0" rIns="0" bIns="0" rtlCol="0" anchor="t"/>
          <a:lstStyle/>
          <a:p>
            <a:pPr marL="0" indent="0" algn="l">
              <a:lnSpc>
                <a:spcPts val="2750"/>
              </a:lnSpc>
              <a:buNone/>
              <a:defRPr/>
            </a:pPr>
            <a:r>
              <a:rPr lang="en-US" sz="2200">
                <a:solidFill>
                  <a:srgbClr val="E0D6DE"/>
                </a:solidFill>
                <a:latin typeface="Anton"/>
                <a:ea typeface="Anton"/>
                <a:cs typeface="Anton"/>
              </a:rPr>
              <a:t>Pulse Characteristics</a:t>
            </a:r>
            <a:endParaRPr lang="en-US" sz="2200"/>
          </a:p>
        </p:txBody>
      </p:sp>
      <p:sp>
        <p:nvSpPr>
          <p:cNvPr id="3416168" name="Text 7"/>
          <p:cNvSpPr/>
          <p:nvPr/>
        </p:nvSpPr>
        <p:spPr bwMode="auto">
          <a:xfrm>
            <a:off x="11167467" y="2824758"/>
            <a:ext cx="2669143" cy="4354830"/>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The amplitude of the induced pulse is proportional to the rate of change of current () in the source line and the mutual inductance between the conductors. Faster signal edges and closer proximity yield stronger, more easily detectable leakage signals.</a:t>
            </a:r>
            <a:endParaRPr lang="en-US" sz="1750"/>
          </a:p>
        </p:txBody>
      </p:sp>
      <p:pic>
        <p:nvPicPr>
          <p:cNvPr id="1487284218" name="Picture 12"/>
          <p:cNvPicPr>
            <a:picLocks noChangeAspect="1"/>
          </p:cNvPicPr>
          <p:nvPr/>
        </p:nvPicPr>
        <p:blipFill rotWithShape="1">
          <a:blip r:embed="rId5"/>
          <a:stretch/>
        </p:blipFill>
        <p:spPr bwMode="auto">
          <a:xfrm>
            <a:off x="12268200" y="7429500"/>
            <a:ext cx="2362199" cy="8001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spTree>
      <p:nvGrpSpPr>
        <p:cNvPr id="1" name=""/>
        <p:cNvGrpSpPr/>
        <p:nvPr/>
      </p:nvGrpSpPr>
      <p:grpSpPr bwMode="auto">
        <a:xfrm>
          <a:off x="0" y="0"/>
          <a:ext cx="0" cy="0"/>
          <a:chOff x="0" y="0"/>
          <a:chExt cx="0" cy="0"/>
        </a:xfrm>
      </p:grpSpPr>
      <p:sp>
        <p:nvSpPr>
          <p:cNvPr id="309922885" name="Rectangle 7"/>
          <p:cNvSpPr/>
          <p:nvPr/>
        </p:nvSpPr>
        <p:spPr bwMode="auto">
          <a:xfrm>
            <a:off x="12265819" y="7429500"/>
            <a:ext cx="2364581" cy="800100"/>
          </a:xfrm>
          <a:prstGeom prst="rect">
            <a:avLst/>
          </a:prstGeom>
          <a:solidFill>
            <a:srgbClr val="1F1F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pic>
        <p:nvPicPr>
          <p:cNvPr id="655386609" name="Image 0"/>
          <p:cNvPicPr>
            <a:picLocks noChangeAspect="1"/>
          </p:cNvPicPr>
          <p:nvPr/>
        </p:nvPicPr>
        <p:blipFill rotWithShape="1">
          <a:blip r:embed="rId3"/>
          <a:stretch/>
        </p:blipFill>
        <p:spPr bwMode="auto">
          <a:xfrm>
            <a:off x="9087327" y="751656"/>
            <a:ext cx="5436394" cy="678873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10144738" name="Text 0"/>
          <p:cNvSpPr/>
          <p:nvPr/>
        </p:nvSpPr>
        <p:spPr bwMode="auto">
          <a:xfrm>
            <a:off x="793790" y="1781532"/>
            <a:ext cx="7109578" cy="566976"/>
          </a:xfrm>
          <a:prstGeom prst="rect">
            <a:avLst/>
          </a:prstGeom>
          <a:noFill/>
          <a:ln/>
        </p:spPr>
        <p:txBody>
          <a:bodyPr wrap="none" lIns="0" tIns="0" rIns="0" bIns="0" rtlCol="0" anchor="t"/>
          <a:lstStyle/>
          <a:p>
            <a:pPr marL="0" indent="0" algn="l">
              <a:lnSpc>
                <a:spcPts val="4450"/>
              </a:lnSpc>
              <a:buNone/>
              <a:defRPr/>
            </a:pPr>
            <a:r>
              <a:rPr lang="en-US" sz="3550">
                <a:solidFill>
                  <a:srgbClr val="FA95AF"/>
                </a:solidFill>
                <a:latin typeface="Anton"/>
                <a:ea typeface="Anton"/>
                <a:cs typeface="Anton"/>
              </a:rPr>
              <a:t>Summary — Physics is the Vulnerability</a:t>
            </a:r>
            <a:endParaRPr lang="en-US" sz="3550"/>
          </a:p>
        </p:txBody>
      </p:sp>
      <p:sp>
        <p:nvSpPr>
          <p:cNvPr id="1262864889" name="Text 1"/>
          <p:cNvSpPr/>
          <p:nvPr/>
        </p:nvSpPr>
        <p:spPr bwMode="auto">
          <a:xfrm>
            <a:off x="793790" y="2688669"/>
            <a:ext cx="7556421" cy="1814513"/>
          </a:xfrm>
          <a:prstGeom prst="rect">
            <a:avLst/>
          </a:prstGeom>
          <a:noFill/>
          <a:ln/>
        </p:spPr>
        <p:txBody>
          <a:bodyPr wrap="square" lIns="0" tIns="0" rIns="0" bIns="0" rtlCol="0" anchor="t"/>
          <a:lstStyle/>
          <a:p>
            <a:pPr marL="0" indent="0" algn="l">
              <a:lnSpc>
                <a:spcPts val="2850"/>
              </a:lnSpc>
              <a:buNone/>
              <a:defRPr/>
            </a:pPr>
            <a:r>
              <a:rPr lang="en-US" sz="1750">
                <a:solidFill>
                  <a:srgbClr val="E0D6DE"/>
                </a:solidFill>
                <a:latin typeface="Fira Sans"/>
                <a:ea typeface="Fira Sans"/>
                <a:cs typeface="Fira Sans"/>
              </a:rPr>
              <a:t>Chain of leakage: I → B → Φ → e. Every fast bit transition can create an induced electromagnetic pulse on nearby conductors. Mutual inductance M couples cables; an attacker with access to Cable B can recover Cable A's data passively. Mitigation requires physical and signal‑level controls — twisted pairs, shielding, spacing, and edge control.</a:t>
            </a:r>
            <a:endParaRPr lang="en-US" sz="1750"/>
          </a:p>
        </p:txBody>
      </p:sp>
      <p:sp>
        <p:nvSpPr>
          <p:cNvPr id="1404579694" name="Shape 2"/>
          <p:cNvSpPr/>
          <p:nvPr/>
        </p:nvSpPr>
        <p:spPr bwMode="auto">
          <a:xfrm>
            <a:off x="793790" y="4758333"/>
            <a:ext cx="7556421" cy="1689616"/>
          </a:xfrm>
          <a:prstGeom prst="roundRect">
            <a:avLst>
              <a:gd name="adj" fmla="val 2014"/>
            </a:avLst>
          </a:prstGeom>
          <a:solidFill>
            <a:srgbClr val="490315"/>
          </a:solidFill>
          <a:ln/>
        </p:spPr>
      </p:sp>
      <p:pic>
        <p:nvPicPr>
          <p:cNvPr id="1535969607" name="Image 1" descr="preencoded.png"/>
          <p:cNvPicPr>
            <a:picLocks noChangeAspect="1"/>
          </p:cNvPicPr>
          <p:nvPr/>
        </p:nvPicPr>
        <p:blipFill rotWithShape="1">
          <a:blip r:embed="rId4"/>
          <a:stretch/>
        </p:blipFill>
        <p:spPr bwMode="auto">
          <a:xfrm>
            <a:off x="1020604" y="5094803"/>
            <a:ext cx="283488" cy="226814"/>
          </a:xfrm>
          <a:prstGeom prst="rect">
            <a:avLst/>
          </a:prstGeom>
        </p:spPr>
      </p:pic>
      <p:sp>
        <p:nvSpPr>
          <p:cNvPr id="667240764" name="Text 3"/>
          <p:cNvSpPr/>
          <p:nvPr/>
        </p:nvSpPr>
        <p:spPr bwMode="auto">
          <a:xfrm>
            <a:off x="1530906" y="5041821"/>
            <a:ext cx="6592491" cy="1088708"/>
          </a:xfrm>
          <a:prstGeom prst="rect">
            <a:avLst/>
          </a:prstGeom>
          <a:noFill/>
          <a:ln/>
        </p:spPr>
        <p:txBody>
          <a:bodyPr wrap="square" lIns="0" tIns="0" rIns="0" bIns="0" rtlCol="0" anchor="t"/>
          <a:lstStyle/>
          <a:p>
            <a:pPr marL="0" indent="0" algn="l">
              <a:lnSpc>
                <a:spcPts val="2850"/>
              </a:lnSpc>
              <a:buNone/>
              <a:defRPr/>
            </a:pPr>
            <a:r>
              <a:rPr lang="en-US" sz="1750">
                <a:solidFill>
                  <a:srgbClr val="FFFFFF"/>
                </a:solidFill>
                <a:latin typeface="Fira Sans"/>
                <a:ea typeface="Fira Sans"/>
                <a:cs typeface="Fira Sans"/>
              </a:rPr>
              <a:t>Action item: review cabling topology and signal slew rates for high‑risk systems; prioritise physical isolation and shielding for classified links.</a:t>
            </a:r>
            <a:endParaRPr lang="en-US" sz="17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10</Slides>
  <Notes>10</Notes>
  <HiddenSlides>0</HiddenSlides>
  <MMClips>2</MMClips>
  <ScaleCrop>0</ScaleCrop>
  <HeadingPairs>
    <vt:vector size="4" baseType="variant">
      <vt:variant>
        <vt:lpstr>Theme</vt:lpstr>
      </vt:variant>
      <vt:variant>
        <vt:i4>1</vt:i4>
      </vt:variant>
      <vt:variant>
        <vt:lpstr>Slide Titles</vt:lpstr>
      </vt:variant>
      <vt:variant>
        <vt:i4>10</vt:i4>
      </vt:variant>
    </vt:vector>
  </HeadingPairs>
  <TitlesOfParts>
    <vt:vector size="11" baseType="lpstr">
      <vt:lpstr>Theme 1</vt:lpstr>
      <vt:lpstr>Slide 1</vt:lpstr>
      <vt:lpstr>Slide 2</vt:lpstr>
      <vt:lpstr>Slide 3</vt:lpstr>
      <vt:lpstr>Slide 4</vt:lpstr>
      <vt:lpstr>Slide 5</vt:lpstr>
      <vt:lpstr>Slide 6</vt:lpstr>
      <vt:lpstr>Slide 7</vt:lpstr>
      <vt:lpstr>Slide 8</vt:lpstr>
      <vt:lpstr>Slide 9</vt:lpstr>
      <vt:lpstr>Slide 10</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
  <cp:revision>5</cp:revision>
  <dcterms:created xsi:type="dcterms:W3CDTF">2026-04-06T21:44:28Z</dcterms:created>
  <dcterms:modified xsi:type="dcterms:W3CDTF">2026-04-12T12:47:55Z</dcterms:modified>
</cp:coreProperties>
</file>